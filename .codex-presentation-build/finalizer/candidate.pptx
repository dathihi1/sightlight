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60c6a745264056" /><Relationship Type="http://schemas.openxmlformats.org/officeDocument/2006/relationships/extended-properties" Target="/docProps/app.xml" Id="Rc5b96f9d56314f4b" /><Relationship Type="http://schemas.openxmlformats.org/officeDocument/2006/relationships/officeDocument" Target="/ppt/presentation.xml" Id="R0045ccf25f6646d2" /></Relationships>
</file>

<file path=ppt/presentation.xml><?xml version="1.0" encoding="utf-8"?>
<p:presentation xmlns:p="http://schemas.openxmlformats.org/presentationml/2006/main">
  <p:sldMasterIdLst>
    <p:sldMasterId xmlns:r="http://schemas.openxmlformats.org/officeDocument/2006/relationships" id="2147483648" r:id="R2099dbe7a8524fe2"/>
  </p:sldMasterIdLst>
  <p:notesMasterIdLst>
    <p:notesMasterId xmlns:r="http://schemas.openxmlformats.org/officeDocument/2006/relationships" r:id="R10d0acba98444d85"/>
  </p:notesMasterIdLst>
  <p:sldIdLst>
    <p:sldId xmlns:r="http://schemas.openxmlformats.org/officeDocument/2006/relationships" id="256" r:id="R5120140fa4f14ace"/>
    <p:sldId xmlns:r="http://schemas.openxmlformats.org/officeDocument/2006/relationships" id="257" r:id="Rfd19f4671f554148"/>
    <p:sldId xmlns:r="http://schemas.openxmlformats.org/officeDocument/2006/relationships" id="258" r:id="R6b6038665730436a"/>
    <p:sldId xmlns:r="http://schemas.openxmlformats.org/officeDocument/2006/relationships" id="259" r:id="R5e762cb12aa84f79"/>
    <p:sldId xmlns:r="http://schemas.openxmlformats.org/officeDocument/2006/relationships" id="260" r:id="R326dc09020974e84"/>
    <p:sldId xmlns:r="http://schemas.openxmlformats.org/officeDocument/2006/relationships" id="261" r:id="R37e14b0bd9b0478e"/>
    <p:sldId xmlns:r="http://schemas.openxmlformats.org/officeDocument/2006/relationships" id="262" r:id="Ra46a88c19c8e42f5"/>
    <p:sldId xmlns:r="http://schemas.openxmlformats.org/officeDocument/2006/relationships" id="263" r:id="Rfcffffc57ae94610"/>
    <p:sldId xmlns:r="http://schemas.openxmlformats.org/officeDocument/2006/relationships" id="264" r:id="R6e42c218fecb4016"/>
    <p:sldId xmlns:r="http://schemas.openxmlformats.org/officeDocument/2006/relationships" id="265" r:id="R0f78c850289b4156"/>
    <p:sldId xmlns:r="http://schemas.openxmlformats.org/officeDocument/2006/relationships" id="266" r:id="Raaf33b99482a4f04"/>
    <p:sldId xmlns:r="http://schemas.openxmlformats.org/officeDocument/2006/relationships" id="267" r:id="Rf8fc3cdd44654b03"/>
    <p:sldId xmlns:r="http://schemas.openxmlformats.org/officeDocument/2006/relationships" id="268" r:id="R9f5359e2b69942b5"/>
    <p:sldId xmlns:r="http://schemas.openxmlformats.org/officeDocument/2006/relationships" id="269" r:id="R94fb8ecc62b340f0"/>
    <p:sldId xmlns:r="http://schemas.openxmlformats.org/officeDocument/2006/relationships" id="270" r:id="R2fd4a7bb34b845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28caf0ff234fa5" /><Relationship Type="http://schemas.openxmlformats.org/officeDocument/2006/relationships/slideMaster" Target="/ppt/slideMasters/slideMaster1.xml" Id="R2099dbe7a8524fe2" /><Relationship Type="http://schemas.openxmlformats.org/officeDocument/2006/relationships/notesMaster" Target="/ppt/notesMasters/notesMaster1.xml" Id="R10d0acba98444d85" /><Relationship Type="http://schemas.openxmlformats.org/officeDocument/2006/relationships/presProps" Target="/ppt/presProps.xml" Id="R8b4c869ac6d9479a" /><Relationship Type="http://schemas.openxmlformats.org/officeDocument/2006/relationships/tableStyles" Target="/ppt/tableStyles.xml" Id="Rb11105db972f4fe7" /><Relationship Type="http://schemas.openxmlformats.org/officeDocument/2006/relationships/slide" Target="/ppt/slides/slide1.xml" Id="R5120140fa4f14ace" /><Relationship Type="http://schemas.openxmlformats.org/officeDocument/2006/relationships/slide" Target="/ppt/slides/slide2.xml" Id="Rfd19f4671f554148" /><Relationship Type="http://schemas.openxmlformats.org/officeDocument/2006/relationships/slide" Target="/ppt/slides/slide3.xml" Id="R6b6038665730436a" /><Relationship Type="http://schemas.openxmlformats.org/officeDocument/2006/relationships/slide" Target="/ppt/slides/slide4.xml" Id="R5e762cb12aa84f79" /><Relationship Type="http://schemas.openxmlformats.org/officeDocument/2006/relationships/slide" Target="/ppt/slides/slide5.xml" Id="R326dc09020974e84" /><Relationship Type="http://schemas.openxmlformats.org/officeDocument/2006/relationships/slide" Target="/ppt/slides/slide6.xml" Id="R37e14b0bd9b0478e" /><Relationship Type="http://schemas.openxmlformats.org/officeDocument/2006/relationships/slide" Target="/ppt/slides/slide7.xml" Id="Ra46a88c19c8e42f5" /><Relationship Type="http://schemas.openxmlformats.org/officeDocument/2006/relationships/slide" Target="/ppt/slides/slide8.xml" Id="Rfcffffc57ae94610" /><Relationship Type="http://schemas.openxmlformats.org/officeDocument/2006/relationships/slide" Target="/ppt/slides/slide9.xml" Id="R6e42c218fecb4016" /><Relationship Type="http://schemas.openxmlformats.org/officeDocument/2006/relationships/slide" Target="/ppt/slides/slide10.xml" Id="R0f78c850289b4156" /><Relationship Type="http://schemas.openxmlformats.org/officeDocument/2006/relationships/slide" Target="/ppt/slides/slide11.xml" Id="Raaf33b99482a4f04" /><Relationship Type="http://schemas.openxmlformats.org/officeDocument/2006/relationships/slide" Target="/ppt/slides/slide12.xml" Id="Rf8fc3cdd44654b03" /><Relationship Type="http://schemas.openxmlformats.org/officeDocument/2006/relationships/slide" Target="/ppt/slides/slide13.xml" Id="R9f5359e2b69942b5" /><Relationship Type="http://schemas.openxmlformats.org/officeDocument/2006/relationships/slide" Target="/ppt/slides/slide14.xml" Id="R94fb8ecc62b340f0" /><Relationship Type="http://schemas.openxmlformats.org/officeDocument/2006/relationships/slide" Target="/ppt/slides/slide15.xml" Id="R2fd4a7bb34b845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c934a896d24f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3508cbbb2548be" /><Relationship Type="http://schemas.openxmlformats.org/officeDocument/2006/relationships/notesMaster" Target="/ppt/notesMasters/notesMaster1.xml" Id="Re3b8d460fe7e43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7deb8f18fe4057" /><Relationship Type="http://schemas.openxmlformats.org/officeDocument/2006/relationships/notesMaster" Target="/ppt/notesMasters/notesMaster1.xml" Id="Rf71b44099c994b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b92a19ffbe40de" /><Relationship Type="http://schemas.openxmlformats.org/officeDocument/2006/relationships/notesMaster" Target="/ppt/notesMasters/notesMaster1.xml" Id="Rba2fa8b5284144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c667518a554c20" /><Relationship Type="http://schemas.openxmlformats.org/officeDocument/2006/relationships/notesMaster" Target="/ppt/notesMasters/notesMaster1.xml" Id="Re0d4b099470941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526b6224e44688" /><Relationship Type="http://schemas.openxmlformats.org/officeDocument/2006/relationships/notesMaster" Target="/ppt/notesMasters/notesMaster1.xml" Id="Rcf7340e24f8c44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b5eedc65e54d37" /><Relationship Type="http://schemas.openxmlformats.org/officeDocument/2006/relationships/notesMaster" Target="/ppt/notesMasters/notesMaster1.xml" Id="R51b1fbf7de904b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fc15a21b48404a" /><Relationship Type="http://schemas.openxmlformats.org/officeDocument/2006/relationships/notesMaster" Target="/ppt/notesMasters/notesMaster1.xml" Id="R7dbf38ecdd2c43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4e5eee8abc49a9" /><Relationship Type="http://schemas.openxmlformats.org/officeDocument/2006/relationships/notesMaster" Target="/ppt/notesMasters/notesMaster1.xml" Id="Rb17d330dffb747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e2da81dd9148c1" /><Relationship Type="http://schemas.openxmlformats.org/officeDocument/2006/relationships/notesMaster" Target="/ppt/notesMasters/notesMaster1.xml" Id="Rba867e6df4ce43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138584a0d64619" /><Relationship Type="http://schemas.openxmlformats.org/officeDocument/2006/relationships/notesMaster" Target="/ppt/notesMasters/notesMaster1.xml" Id="Rcb447f0c4fa049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cd2cd510234651" /><Relationship Type="http://schemas.openxmlformats.org/officeDocument/2006/relationships/notesMaster" Target="/ppt/notesMasters/notesMaster1.xml" Id="R4cdc45a3505e4a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7712c3587e497d" /><Relationship Type="http://schemas.openxmlformats.org/officeDocument/2006/relationships/notesMaster" Target="/ppt/notesMasters/notesMaster1.xml" Id="Rb2220437a21d48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df23b8a16047a9" /><Relationship Type="http://schemas.openxmlformats.org/officeDocument/2006/relationships/notesMaster" Target="/ppt/notesMasters/notesMaster1.xml" Id="Rf7cd915ca7d548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5862d00d5646a9" /><Relationship Type="http://schemas.openxmlformats.org/officeDocument/2006/relationships/notesMaster" Target="/ppt/notesMasters/notesMaster1.xml" Id="R31259250673e4c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058b6736d84ab2" /><Relationship Type="http://schemas.openxmlformats.org/officeDocument/2006/relationships/notesMaster" Target="/ppt/notesMasters/notesMaster1.xml" Id="R688d4439b36a40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introduce SignLight and the core promise. The deck is designed for a 20–25 minute presentation. Source: EXE201 Outcome 1 guideline and current SignLight repository. The cover is an illustration, not a screenshot of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live demonstration at approximately eight minutes. The guideline requires English slides and a 20–25 minute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gap in self-study: learners can imitate a video but lack immediate correction. The current product combines sign video, webcam capture and AI feedback. This is a product rationale, not a market-size claim. Source: repository README.md and src/frontend/app/luyen-ai/page.tsx.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Vercel URL was supplied by the project owner and opened successfully on 23 Sep 2026. The AI practice route requires login. Published UI availability is verified; full end-to-end AI accuracy and payment completion are not verified by this deck. Source: live site and repository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responsibilities on this slide were supplied directly by the project owner. Pause here for each person to speak briefly about their own deliverable if the team presentation format allows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src/backend/src/main/resources/db/migration/V3__integrate_exe101_features.sql and src/frontend/app/nang-cap/page.tsx. The listed Premium prices are present in code. Treat them as proposed prices for the EXE201 presentation; no sales or payment results are claimed. Free account AI quota is documented in src/README.md.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src/frontend/app/luyen-ai/page.tsx, src/frontend/lib/holistic/extractor.ts, src/frontend/lib/ai/localRecognizer.ts and src/README.md. Browser extracts numeric features and performs local WASM inference. The frontend also sends the numeric tensor to the backend for attempt/quota tracking. The backend AI service currently lacks ONNX weights in src/ai/runs, so its server response can be stubbed; real-world accuracy remains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approximately eight minutes for the live product. Pre-demo preparation: create and test a demo account, sign in, check API availability, verify camera permission, choose a sign with a working local video, and avoid any real payment. If live inference fails, explain the visible error and show the prepared UI flow honestly. The camera route requires authentication on the deployed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navigation: https://sightlight1.vercel.app/hoc . Show a real available lesson, its video and one question. Do not claim all lesson content is complete; the content owner is still preparing lessons, quizzes and teaching videos. Source: user-provided team allocation and repository src/frontend/app/hoc.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navigation: https://sightlight1.vercel.app/luyen-ai . This route requires authentication. Camera permission must be granted by the presenter, not by the audience. Use a working webcam and adequate lighting. The frontend has local ONNX weights, but the backend model files in src/ai/runs are absent. If the page displays a stub warning, state that server-side model output is simulated; do not present this as a measured accuracy test. Source: src/frontend/app/luyen-ai/page.tsx and src/ai/app/recognizer.py.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navigation: https://sightlight1.vercel.app/tu-dien and https://sightlight1.vercel.app/nang-cap . Search and show one real result. The payOS checkout code exists, but no end-to-end real payment is claimed or needed for this presentation. Source: src/frontend/app/tu-dien/page.tsx and src/frontend/app/nang-cap/page.tsx.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on 23 Sep 2026: published Vercel landing page opens and /luyen-ai requires login. Repository search found no GA4 integration. src/ai/runs contains config and labels but no ONNX weights. The frontend does contain browser ONNX model files. Existing PROJECT_STATE.md explicitly marks webcam accuracy validation as outstanding. This slide distinguishes UI/deployment from test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guideline asks for a seven-week plan, ideally phased at W3, W6 and W8, with the final version or collection launched in week 6–7. This is a proposed schedule, not a committed delivery claim. The scope follows current gaps observed in code and project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requested function list with a timeline. V1.0 is a hardening phase for existing functionality. V2.0 and V3.0 are proposed additions and validation tasks. The Vercel site is already published; the W6–W7 milestone is the validated public launch of the fuller product, not the first time a page goes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the distinction between what is live now and what the team will validate across the remaining seven weeks. Invite questions. Do not imply that on-screen marketing metrics have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a1388f6ca941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f0d22f9af44af4" /><Relationship Type="http://schemas.openxmlformats.org/officeDocument/2006/relationships/slideLayout" Target="/ppt/slideLayouts/slideLayout1.xml" Id="Rf1b8b5dca3ac49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b8b5dca3ac49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4632bc8c3b430c" /><Relationship Type="http://schemas.openxmlformats.org/officeDocument/2006/relationships/image" Target="/ppt/media/image.png" Id="R7b5ad0d86e884473" /><Relationship Type="http://schemas.openxmlformats.org/officeDocument/2006/relationships/image" Target="/ppt/media/image2.png" Id="R777db5aaedb64efe" /><Relationship Type="http://schemas.openxmlformats.org/officeDocument/2006/relationships/notesSlide" Target="/ppt/notesSlides/notesSlide1.xml" Id="R71a0338473fd49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cfacc094144f9b" /><Relationship Type="http://schemas.openxmlformats.org/officeDocument/2006/relationships/notesSlide" Target="/ppt/notesSlides/notesSlide2.xml" Id="Rf6055ae7c68a4f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3ef76a096549fe" /><Relationship Type="http://schemas.openxmlformats.org/officeDocument/2006/relationships/notesSlide" Target="/ppt/notesSlides/notesSlide3.xml" Id="R742f49f0a89644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175082de6441a7" /><Relationship Type="http://schemas.openxmlformats.org/officeDocument/2006/relationships/notesSlide" Target="/ppt/notesSlides/notesSlide4.xml" Id="R020219eb76784b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511ba322f64904" /><Relationship Type="http://schemas.openxmlformats.org/officeDocument/2006/relationships/notesSlide" Target="/ppt/notesSlides/notesSlide5.xml" Id="R30085f0282c143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b14ca4a3634e5b" /><Relationship Type="http://schemas.openxmlformats.org/officeDocument/2006/relationships/notesSlide" Target="/ppt/notesSlides/notesSlide6.xml" Id="Rd939b2c1150746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9e11085e1a4db1" /><Relationship Type="http://schemas.openxmlformats.org/officeDocument/2006/relationships/notesSlide" Target="/ppt/notesSlides/notesSlide7.xml" Id="R31f226e4b5594d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bf7bcefb5c4675" /><Relationship Type="http://schemas.openxmlformats.org/officeDocument/2006/relationships/notesSlide" Target="/ppt/notesSlides/notesSlide8.xml" Id="Re793cc56c18847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30146c3c2c43c2" /><Relationship Type="http://schemas.openxmlformats.org/officeDocument/2006/relationships/notesSlide" Target="/ppt/notesSlides/notesSlide9.xml" Id="R78cb7f3133b54c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a0f1646dea4311" /><Relationship Type="http://schemas.openxmlformats.org/officeDocument/2006/relationships/notesSlide" Target="/ppt/notesSlides/notesSlide10.xml" Id="R84045f8d93b24c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8e52cdfedb489e" /><Relationship Type="http://schemas.openxmlformats.org/officeDocument/2006/relationships/notesSlide" Target="/ppt/notesSlides/notesSlide11.xml" Id="R032a178090c544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74eca4ffc2431b" /><Relationship Type="http://schemas.openxmlformats.org/officeDocument/2006/relationships/notesSlide" Target="/ppt/notesSlides/notesSlide12.xml" Id="Rec405191151945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57baa0f5184879" /><Relationship Type="http://schemas.openxmlformats.org/officeDocument/2006/relationships/notesSlide" Target="/ppt/notesSlides/notesSlide13.xml" Id="Rb82adc3d01af48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f5c4dda746409b" /><Relationship Type="http://schemas.openxmlformats.org/officeDocument/2006/relationships/notesSlide" Target="/ppt/notesSlides/notesSlide14.xml" Id="R1ee0d5f7e83141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96322071ef477b" /><Relationship Type="http://schemas.openxmlformats.org/officeDocument/2006/relationships/image" Target="/ppt/media/image3.png" Id="Rcddbf89fe83641fb" /><Relationship Type="http://schemas.openxmlformats.org/officeDocument/2006/relationships/notesSlide" Target="/ppt/notesSlides/notesSlide15.xml" Id="R5f666cb825fa4ef2" /></Relationships>
</file>

<file path=ppt/slides/slide1.xml><?xml version="1.0" encoding="utf-8"?>
<p:sld xmlns:p="http://schemas.openxmlformats.org/presentationml/2006/main">
  <p:cSld>
    <p:bg>
      <p:bgPr>
        <a:solidFill xmlns:a="http://schemas.openxmlformats.org/drawingml/2006/main">
          <a:srgbClr val="131B2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b5ad0d86e88447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77db5aaedb64efe"/>
          <a:stretch xmlns:a="http://schemas.openxmlformats.org/drawingml/2006/main"/>
        </p:blipFill>
        <p:spPr>
          <a:xfrm xmlns:a="http://schemas.openxmlformats.org/drawingml/2006/main">
            <a:off x="680305" y="619125"/>
            <a:ext cx="677740" cy="7048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811CBD-22B2-4317-950B-6366921D4E3E}"/>
              </a:ext>
            </a:extLst>
          </p:cNvPr>
          <p:cNvSpPr>
            <a:spLocks xmlns:a="http://schemas.openxmlformats.org/drawingml/2006/main" noGrp="1"/>
          </p:cNvSpPr>
          <p:nvPr/>
        </p:nvSpPr>
        <p:spPr>
          <a:xfrm xmlns:a="http://schemas.openxmlformats.org/drawingml/2006/main">
            <a:off x="666750" y="1781175"/>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655"/>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SignLight</a:t>
            </a:r>
          </a:p>
        </p:txBody>
      </p:sp>
      <p:sp>
        <p:nvSpPr>
          <p:cNvPr id="4" name="">
            <a:extLst xmlns:a="http://schemas.openxmlformats.org/drawingml/2006/main">
              <a:ext uri="{FF2B5EF4-FFF2-40B4-BE49-F238E27FC236}">
                <a16:creationId xmlns:a16="http://schemas.microsoft.com/office/drawing/2014/main" id="{5933FF35-EBE9-44C9-B74D-B5F36BA3ABDF}"/>
              </a:ext>
            </a:extLst>
          </p:cNvPr>
          <p:cNvSpPr>
            <a:spLocks xmlns:a="http://schemas.openxmlformats.org/drawingml/2006/main" noGrp="1"/>
          </p:cNvSpPr>
          <p:nvPr/>
        </p:nvSpPr>
        <p:spPr>
          <a:xfrm xmlns:a="http://schemas.openxmlformats.org/drawingml/2006/main">
            <a:off x="685800" y="2581275"/>
            <a:ext cx="5600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Learn Vietnamese Sign Language</a:t>
            </a:r>
          </a:p>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with camera-based AI feedback</a:t>
            </a:r>
          </a:p>
        </p:txBody>
      </p:sp>
      <p:sp>
        <p:nvSpPr>
          <p:cNvPr id="5" name="">
            <a:extLst xmlns:a="http://schemas.openxmlformats.org/drawingml/2006/main">
              <a:ext uri="{FF2B5EF4-FFF2-40B4-BE49-F238E27FC236}">
                <a16:creationId xmlns:a16="http://schemas.microsoft.com/office/drawing/2014/main" id="{3160FF7E-F4C6-41EB-8201-E2BF8DF61F54}"/>
              </a:ext>
            </a:extLst>
          </p:cNvPr>
          <p:cNvSpPr>
            <a:spLocks xmlns:a="http://schemas.openxmlformats.org/drawingml/2006/main" noGrp="1"/>
          </p:cNvSpPr>
          <p:nvPr/>
        </p:nvSpPr>
        <p:spPr>
          <a:xfrm xmlns:a="http://schemas.openxmlformats.org/drawingml/2006/main">
            <a:off x="695325" y="535305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BCE5E3"/>
                </a:solidFill>
                <a:latin typeface="Arial"/>
                <a:ea typeface="Arial"/>
                <a:cs typeface="Arial"/>
              </a:defRPr>
            </a:pPr>
            <a:r>
              <a:rPr sz="1575" b="0">
                <a:solidFill>
                  <a:srgbClr val="BCE5E3"/>
                </a:solidFill>
                <a:latin typeface="Arial"/>
                <a:ea typeface="Arial"/>
                <a:cs typeface="Arial"/>
              </a:rPr>
              <a:t>EXE201  •  Outcome 1  •  Product and MVP demo</a:t>
            </a:r>
          </a:p>
        </p:txBody>
      </p:sp>
      <p:sp>
        <p:nvSpPr>
          <p:cNvPr id="6" name="">
            <a:extLst xmlns:a="http://schemas.openxmlformats.org/drawingml/2006/main">
              <a:ext uri="{FF2B5EF4-FFF2-40B4-BE49-F238E27FC236}">
                <a16:creationId xmlns:a16="http://schemas.microsoft.com/office/drawing/2014/main" id="{0C98299C-9CAA-4899-B04A-DEEB9014C806}"/>
              </a:ext>
            </a:extLst>
          </p:cNvPr>
          <p:cNvSpPr>
            <a:spLocks xmlns:a="http://schemas.openxmlformats.org/drawingml/2006/main" noGrp="1"/>
          </p:cNvSpPr>
          <p:nvPr/>
        </p:nvSpPr>
        <p:spPr>
          <a:xfrm xmlns:a="http://schemas.openxmlformats.org/drawingml/2006/main">
            <a:off x="695325" y="5810250"/>
            <a:ext cx="4953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sightlight1.vercel.app</a:t>
            </a:r>
          </a:p>
        </p:txBody>
      </p:sp>
    </p:spTree>
    <p:extLst>
      <p:ext uri="{BB962C8B-B14F-4D97-AF65-F5344CB8AC3E}">
        <p14:creationId xmlns:p14="http://schemas.microsoft.com/office/powerpoint/2010/main" val="189062662"/>
      </p:ext>
    </p:extLst>
  </p:cSld>
</p:sld>
</file>

<file path=ppt/slides/slide2.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F23412-43BE-43A6-B446-6C0880A476F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0CB69E-996A-472D-B9D5-26B071990398}"/>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Today’s presentation</a:t>
            </a:r>
          </a:p>
        </p:txBody>
      </p:sp>
      <p:sp>
        <p:nvSpPr>
          <p:cNvPr id="3" name="">
            <a:extLst xmlns:a="http://schemas.openxmlformats.org/drawingml/2006/main">
              <a:ext uri="{FF2B5EF4-FFF2-40B4-BE49-F238E27FC236}">
                <a16:creationId xmlns:a16="http://schemas.microsoft.com/office/drawing/2014/main" id="{B472F610-17B0-4240-B869-19F75498AE67}"/>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20–25 MINUTES INCLUDING A LIVE PRODUCT DEMO</a:t>
            </a:r>
          </a:p>
        </p:txBody>
      </p:sp>
      <p:sp>
        <p:nvSpPr>
          <p:cNvPr id="4" name="">
            <a:extLst xmlns:a="http://schemas.openxmlformats.org/drawingml/2006/main">
              <a:ext uri="{FF2B5EF4-FFF2-40B4-BE49-F238E27FC236}">
                <a16:creationId xmlns:a16="http://schemas.microsoft.com/office/drawing/2014/main" id="{8A2ED13B-74A8-4B58-AE47-1DDA73EF3590}"/>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2F4296-C213-426A-BAA4-D684C36E603E}"/>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0CA79B81-89DE-40E6-A166-FBE4B9FFB1E1}"/>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2199086-4D13-4302-B349-DB63344BB824}"/>
              </a:ext>
            </a:extLst>
          </p:cNvPr>
          <p:cNvSpPr>
            <a:spLocks xmlns:a="http://schemas.openxmlformats.org/drawingml/2006/main" noGrp="1"/>
          </p:cNvSpPr>
          <p:nvPr/>
        </p:nvSpPr>
        <p:spPr>
          <a:xfrm xmlns:a="http://schemas.openxmlformats.org/drawingml/2006/main">
            <a:off x="714375" y="1685925"/>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02 min</a:t>
            </a:r>
          </a:p>
        </p:txBody>
      </p:sp>
      <p:sp>
        <p:nvSpPr>
          <p:cNvPr id="8" name="">
            <a:extLst xmlns:a="http://schemas.openxmlformats.org/drawingml/2006/main">
              <a:ext uri="{FF2B5EF4-FFF2-40B4-BE49-F238E27FC236}">
                <a16:creationId xmlns:a16="http://schemas.microsoft.com/office/drawing/2014/main" id="{5F4153A3-5BD8-44B9-8E67-6A5367DFBCE0}"/>
              </a:ext>
            </a:extLst>
          </p:cNvPr>
          <p:cNvSpPr>
            <a:spLocks xmlns:a="http://schemas.openxmlformats.org/drawingml/2006/main" noGrp="1"/>
          </p:cNvSpPr>
          <p:nvPr/>
        </p:nvSpPr>
        <p:spPr>
          <a:xfrm xmlns:a="http://schemas.openxmlformats.org/drawingml/2006/main">
            <a:off x="2190750" y="1685925"/>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Team and responsibilities</a:t>
            </a:r>
          </a:p>
        </p:txBody>
      </p:sp>
      <p:sp>
        <p:nvSpPr>
          <p:cNvPr id="9" name="">
            <a:extLst xmlns:a="http://schemas.openxmlformats.org/drawingml/2006/main">
              <a:ext uri="{FF2B5EF4-FFF2-40B4-BE49-F238E27FC236}">
                <a16:creationId xmlns:a16="http://schemas.microsoft.com/office/drawing/2014/main" id="{C3533450-6B7D-43D3-83D5-DE129CA21E46}"/>
              </a:ext>
            </a:extLst>
          </p:cNvPr>
          <p:cNvSpPr>
            <a:spLocks xmlns:a="http://schemas.openxmlformats.org/drawingml/2006/main" noGrp="1"/>
          </p:cNvSpPr>
          <p:nvPr/>
        </p:nvSpPr>
        <p:spPr>
          <a:xfrm xmlns:a="http://schemas.openxmlformats.org/drawingml/2006/main">
            <a:off x="704850" y="2305050"/>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1F0C7D-E81C-4535-B020-130DC4989E89}"/>
              </a:ext>
            </a:extLst>
          </p:cNvPr>
          <p:cNvSpPr>
            <a:spLocks xmlns:a="http://schemas.openxmlformats.org/drawingml/2006/main" noGrp="1"/>
          </p:cNvSpPr>
          <p:nvPr/>
        </p:nvSpPr>
        <p:spPr>
          <a:xfrm xmlns:a="http://schemas.openxmlformats.org/drawingml/2006/main">
            <a:off x="714375" y="25527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05 min</a:t>
            </a:r>
          </a:p>
        </p:txBody>
      </p:sp>
      <p:sp>
        <p:nvSpPr>
          <p:cNvPr id="11" name="">
            <a:extLst xmlns:a="http://schemas.openxmlformats.org/drawingml/2006/main">
              <a:ext uri="{FF2B5EF4-FFF2-40B4-BE49-F238E27FC236}">
                <a16:creationId xmlns:a16="http://schemas.microsoft.com/office/drawing/2014/main" id="{1E345480-4333-4641-A9AB-2AA4EC82CD9F}"/>
              </a:ext>
            </a:extLst>
          </p:cNvPr>
          <p:cNvSpPr>
            <a:spLocks xmlns:a="http://schemas.openxmlformats.org/drawingml/2006/main" noGrp="1"/>
          </p:cNvSpPr>
          <p:nvPr/>
        </p:nvSpPr>
        <p:spPr>
          <a:xfrm xmlns:a="http://schemas.openxmlformats.org/drawingml/2006/main">
            <a:off x="2190750" y="2552700"/>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Product, users and proposed plans</a:t>
            </a:r>
          </a:p>
        </p:txBody>
      </p:sp>
      <p:sp>
        <p:nvSpPr>
          <p:cNvPr id="12" name="">
            <a:extLst xmlns:a="http://schemas.openxmlformats.org/drawingml/2006/main">
              <a:ext uri="{FF2B5EF4-FFF2-40B4-BE49-F238E27FC236}">
                <a16:creationId xmlns:a16="http://schemas.microsoft.com/office/drawing/2014/main" id="{830EC5FC-754F-40B6-957F-EBC618F208AE}"/>
              </a:ext>
            </a:extLst>
          </p:cNvPr>
          <p:cNvSpPr>
            <a:spLocks xmlns:a="http://schemas.openxmlformats.org/drawingml/2006/main" noGrp="1"/>
          </p:cNvSpPr>
          <p:nvPr/>
        </p:nvSpPr>
        <p:spPr>
          <a:xfrm xmlns:a="http://schemas.openxmlformats.org/drawingml/2006/main">
            <a:off x="704850" y="3171825"/>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46F50C-A135-4E64-8148-731A4170B730}"/>
              </a:ext>
            </a:extLst>
          </p:cNvPr>
          <p:cNvSpPr>
            <a:spLocks xmlns:a="http://schemas.openxmlformats.org/drawingml/2006/main" noGrp="1"/>
          </p:cNvSpPr>
          <p:nvPr/>
        </p:nvSpPr>
        <p:spPr>
          <a:xfrm xmlns:a="http://schemas.openxmlformats.org/drawingml/2006/main">
            <a:off x="714375" y="3419475"/>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08 min</a:t>
            </a:r>
          </a:p>
        </p:txBody>
      </p:sp>
      <p:sp>
        <p:nvSpPr>
          <p:cNvPr id="14" name="">
            <a:extLst xmlns:a="http://schemas.openxmlformats.org/drawingml/2006/main">
              <a:ext uri="{FF2B5EF4-FFF2-40B4-BE49-F238E27FC236}">
                <a16:creationId xmlns:a16="http://schemas.microsoft.com/office/drawing/2014/main" id="{F985F666-400C-4454-9D08-BEEEBF86D83A}"/>
              </a:ext>
            </a:extLst>
          </p:cNvPr>
          <p:cNvSpPr>
            <a:spLocks xmlns:a="http://schemas.openxmlformats.org/drawingml/2006/main" noGrp="1"/>
          </p:cNvSpPr>
          <p:nvPr/>
        </p:nvSpPr>
        <p:spPr>
          <a:xfrm xmlns:a="http://schemas.openxmlformats.org/drawingml/2006/main">
            <a:off x="2190750" y="3419475"/>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Live MVP demonstration</a:t>
            </a:r>
          </a:p>
        </p:txBody>
      </p:sp>
      <p:sp>
        <p:nvSpPr>
          <p:cNvPr id="15" name="">
            <a:extLst xmlns:a="http://schemas.openxmlformats.org/drawingml/2006/main">
              <a:ext uri="{FF2B5EF4-FFF2-40B4-BE49-F238E27FC236}">
                <a16:creationId xmlns:a16="http://schemas.microsoft.com/office/drawing/2014/main" id="{047C6C50-EE06-4471-8FE7-D8A614BA6370}"/>
              </a:ext>
            </a:extLst>
          </p:cNvPr>
          <p:cNvSpPr>
            <a:spLocks xmlns:a="http://schemas.openxmlformats.org/drawingml/2006/main" noGrp="1"/>
          </p:cNvSpPr>
          <p:nvPr/>
        </p:nvSpPr>
        <p:spPr>
          <a:xfrm xmlns:a="http://schemas.openxmlformats.org/drawingml/2006/main">
            <a:off x="704850" y="4038600"/>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DD9AD4-9C3A-4B69-840D-DDA0F339AC4F}"/>
              </a:ext>
            </a:extLst>
          </p:cNvPr>
          <p:cNvSpPr>
            <a:spLocks xmlns:a="http://schemas.openxmlformats.org/drawingml/2006/main" noGrp="1"/>
          </p:cNvSpPr>
          <p:nvPr/>
        </p:nvSpPr>
        <p:spPr>
          <a:xfrm xmlns:a="http://schemas.openxmlformats.org/drawingml/2006/main">
            <a:off x="714375" y="42862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05 min</a:t>
            </a:r>
          </a:p>
        </p:txBody>
      </p:sp>
      <p:sp>
        <p:nvSpPr>
          <p:cNvPr id="17" name="">
            <a:extLst xmlns:a="http://schemas.openxmlformats.org/drawingml/2006/main">
              <a:ext uri="{FF2B5EF4-FFF2-40B4-BE49-F238E27FC236}">
                <a16:creationId xmlns:a16="http://schemas.microsoft.com/office/drawing/2014/main" id="{B5A9BE5B-5055-4DD4-9C05-0A8D1292B904}"/>
              </a:ext>
            </a:extLst>
          </p:cNvPr>
          <p:cNvSpPr>
            <a:spLocks xmlns:a="http://schemas.openxmlformats.org/drawingml/2006/main" noGrp="1"/>
          </p:cNvSpPr>
          <p:nvPr/>
        </p:nvSpPr>
        <p:spPr>
          <a:xfrm xmlns:a="http://schemas.openxmlformats.org/drawingml/2006/main">
            <a:off x="2190750" y="4286250"/>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Seven-week roadmap and function list</a:t>
            </a:r>
          </a:p>
        </p:txBody>
      </p:sp>
      <p:sp>
        <p:nvSpPr>
          <p:cNvPr id="18" name="">
            <a:extLst xmlns:a="http://schemas.openxmlformats.org/drawingml/2006/main">
              <a:ext uri="{FF2B5EF4-FFF2-40B4-BE49-F238E27FC236}">
                <a16:creationId xmlns:a16="http://schemas.microsoft.com/office/drawing/2014/main" id="{1022B812-D522-4D8C-9564-9BC69877565F}"/>
              </a:ext>
            </a:extLst>
          </p:cNvPr>
          <p:cNvSpPr>
            <a:spLocks xmlns:a="http://schemas.openxmlformats.org/drawingml/2006/main" noGrp="1"/>
          </p:cNvSpPr>
          <p:nvPr/>
        </p:nvSpPr>
        <p:spPr>
          <a:xfrm xmlns:a="http://schemas.openxmlformats.org/drawingml/2006/main">
            <a:off x="704850" y="4905375"/>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8CB1C22-4E82-4670-9C34-45B214A8BE21}"/>
              </a:ext>
            </a:extLst>
          </p:cNvPr>
          <p:cNvSpPr>
            <a:spLocks xmlns:a="http://schemas.openxmlformats.org/drawingml/2006/main" noGrp="1"/>
          </p:cNvSpPr>
          <p:nvPr/>
        </p:nvSpPr>
        <p:spPr>
          <a:xfrm xmlns:a="http://schemas.openxmlformats.org/drawingml/2006/main">
            <a:off x="714375" y="5153025"/>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03 min</a:t>
            </a:r>
          </a:p>
        </p:txBody>
      </p:sp>
      <p:sp>
        <p:nvSpPr>
          <p:cNvPr id="20" name="">
            <a:extLst xmlns:a="http://schemas.openxmlformats.org/drawingml/2006/main">
              <a:ext uri="{FF2B5EF4-FFF2-40B4-BE49-F238E27FC236}">
                <a16:creationId xmlns:a16="http://schemas.microsoft.com/office/drawing/2014/main" id="{3F9639E3-48D0-458A-8D1D-29A7C96CC27B}"/>
              </a:ext>
            </a:extLst>
          </p:cNvPr>
          <p:cNvSpPr>
            <a:spLocks xmlns:a="http://schemas.openxmlformats.org/drawingml/2006/main" noGrp="1"/>
          </p:cNvSpPr>
          <p:nvPr/>
        </p:nvSpPr>
        <p:spPr>
          <a:xfrm xmlns:a="http://schemas.openxmlformats.org/drawingml/2006/main">
            <a:off x="2190750" y="5153025"/>
            <a:ext cx="804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Questions and discussion</a:t>
            </a:r>
          </a:p>
        </p:txBody>
      </p:sp>
      <p:sp>
        <p:nvSpPr>
          <p:cNvPr id="21" name="">
            <a:extLst xmlns:a="http://schemas.openxmlformats.org/drawingml/2006/main">
              <a:ext uri="{FF2B5EF4-FFF2-40B4-BE49-F238E27FC236}">
                <a16:creationId xmlns:a16="http://schemas.microsoft.com/office/drawing/2014/main" id="{A7959FFD-74E9-4B11-ADBD-704D579E5D9C}"/>
              </a:ext>
            </a:extLst>
          </p:cNvPr>
          <p:cNvSpPr>
            <a:spLocks xmlns:a="http://schemas.openxmlformats.org/drawingml/2006/main" noGrp="1"/>
          </p:cNvSpPr>
          <p:nvPr/>
        </p:nvSpPr>
        <p:spPr>
          <a:xfrm xmlns:a="http://schemas.openxmlformats.org/drawingml/2006/main">
            <a:off x="704850" y="5772150"/>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277168839"/>
      </p:ext>
    </p:extLst>
  </p:cSld>
</p:sld>
</file>

<file path=ppt/slides/slide3.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52E9F11-6012-4106-B88D-08EE8993F974}"/>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CA5506-417F-4DA0-9739-D6C2B6C4D92F}"/>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The learning problem</a:t>
            </a:r>
          </a:p>
        </p:txBody>
      </p:sp>
      <p:sp>
        <p:nvSpPr>
          <p:cNvPr id="3" name="">
            <a:extLst xmlns:a="http://schemas.openxmlformats.org/drawingml/2006/main">
              <a:ext uri="{FF2B5EF4-FFF2-40B4-BE49-F238E27FC236}">
                <a16:creationId xmlns:a16="http://schemas.microsoft.com/office/drawing/2014/main" id="{12957A41-9745-41DA-9795-BEF98247841C}"/>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A LEARNER NEEDS FEEDBACK WHILE PRACTICING ALONE</a:t>
            </a:r>
          </a:p>
        </p:txBody>
      </p:sp>
      <p:sp>
        <p:nvSpPr>
          <p:cNvPr id="4" name="">
            <a:extLst xmlns:a="http://schemas.openxmlformats.org/drawingml/2006/main">
              <a:ext uri="{FF2B5EF4-FFF2-40B4-BE49-F238E27FC236}">
                <a16:creationId xmlns:a16="http://schemas.microsoft.com/office/drawing/2014/main" id="{4B1326DD-3C00-4B51-94AE-EDBA0D457205}"/>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747B67-B268-4616-8A85-398CD4218753}"/>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F69DC149-D336-46D1-AA26-10256351DDBB}"/>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34523A8E-31B8-4F24-A5C1-7486B2362DB6}"/>
              </a:ext>
            </a:extLst>
          </p:cNvPr>
          <p:cNvSpPr>
            <a:spLocks xmlns:a="http://schemas.openxmlformats.org/drawingml/2006/main" noGrp="1"/>
          </p:cNvSpPr>
          <p:nvPr/>
        </p:nvSpPr>
        <p:spPr>
          <a:xfrm xmlns:a="http://schemas.openxmlformats.org/drawingml/2006/main">
            <a:off x="733425" y="18859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31B2E"/>
                </a:solidFill>
                <a:latin typeface="Arial"/>
                <a:ea typeface="Arial"/>
                <a:cs typeface="Arial"/>
              </a:defRPr>
            </a:pPr>
            <a:r>
              <a:rPr sz="2700" b="1">
                <a:solidFill>
                  <a:srgbClr val="131B2E"/>
                </a:solidFill>
                <a:latin typeface="Arial"/>
                <a:ea typeface="Arial"/>
                <a:cs typeface="Arial"/>
              </a:rPr>
              <a:t>Video shows the sign.</a:t>
            </a:r>
          </a:p>
        </p:txBody>
      </p:sp>
      <p:sp>
        <p:nvSpPr>
          <p:cNvPr id="8" name="">
            <a:extLst xmlns:a="http://schemas.openxmlformats.org/drawingml/2006/main">
              <a:ext uri="{FF2B5EF4-FFF2-40B4-BE49-F238E27FC236}">
                <a16:creationId xmlns:a16="http://schemas.microsoft.com/office/drawing/2014/main" id="{A9F9E8D9-E7FB-4FA6-A58E-D4D92697072C}"/>
              </a:ext>
            </a:extLst>
          </p:cNvPr>
          <p:cNvSpPr>
            <a:spLocks xmlns:a="http://schemas.openxmlformats.org/drawingml/2006/main" noGrp="1"/>
          </p:cNvSpPr>
          <p:nvPr/>
        </p:nvSpPr>
        <p:spPr>
          <a:xfrm xmlns:a="http://schemas.openxmlformats.org/drawingml/2006/main">
            <a:off x="733425" y="2600325"/>
            <a:ext cx="4781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0">
                <a:solidFill>
                  <a:srgbClr val="546474"/>
                </a:solidFill>
                <a:latin typeface="Arial"/>
                <a:ea typeface="Arial"/>
                <a:cs typeface="Arial"/>
              </a:defRPr>
            </a:pPr>
            <a:r>
              <a:rPr sz="2400" b="0">
                <a:solidFill>
                  <a:srgbClr val="546474"/>
                </a:solidFill>
                <a:latin typeface="Arial"/>
                <a:ea typeface="Arial"/>
                <a:cs typeface="Arial"/>
              </a:rPr>
              <a:t>It cannot tell the learner</a:t>
            </a:r>
          </a:p>
          <a:p xmlns:a="http://schemas.openxmlformats.org/drawingml/2006/main">
            <a:pPr algn="l">
              <a:defRPr sz="2400" b="0">
                <a:solidFill>
                  <a:srgbClr val="546474"/>
                </a:solidFill>
                <a:latin typeface="Arial"/>
                <a:ea typeface="Arial"/>
                <a:cs typeface="Arial"/>
              </a:defRPr>
            </a:pPr>
            <a:r>
              <a:rPr sz="2400" b="0">
                <a:solidFill>
                  <a:srgbClr val="546474"/>
                </a:solidFill>
                <a:latin typeface="Arial"/>
                <a:ea typeface="Arial"/>
                <a:cs typeface="Arial"/>
              </a:rPr>
              <a:t>what their hands actually did.</a:t>
            </a:r>
          </a:p>
        </p:txBody>
      </p:sp>
      <p:sp>
        <p:nvSpPr>
          <p:cNvPr id="9" name="">
            <a:extLst xmlns:a="http://schemas.openxmlformats.org/drawingml/2006/main">
              <a:ext uri="{FF2B5EF4-FFF2-40B4-BE49-F238E27FC236}">
                <a16:creationId xmlns:a16="http://schemas.microsoft.com/office/drawing/2014/main" id="{DEA84708-D183-492C-A29E-95C679980CA7}"/>
              </a:ext>
            </a:extLst>
          </p:cNvPr>
          <p:cNvSpPr>
            <a:spLocks xmlns:a="http://schemas.openxmlformats.org/drawingml/2006/main" noGrp="1"/>
          </p:cNvSpPr>
          <p:nvPr/>
        </p:nvSpPr>
        <p:spPr>
          <a:xfrm xmlns:a="http://schemas.openxmlformats.org/drawingml/2006/main">
            <a:off x="5848350" y="1952625"/>
            <a:ext cx="19050" cy="31432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88473E5-E31F-434E-9350-5EC1D20AC532}"/>
              </a:ext>
            </a:extLst>
          </p:cNvPr>
          <p:cNvSpPr>
            <a:spLocks xmlns:a="http://schemas.openxmlformats.org/drawingml/2006/main" noGrp="1"/>
          </p:cNvSpPr>
          <p:nvPr/>
        </p:nvSpPr>
        <p:spPr>
          <a:xfrm xmlns:a="http://schemas.openxmlformats.org/drawingml/2006/main">
            <a:off x="6400800" y="1924050"/>
            <a:ext cx="433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08737C"/>
                </a:solidFill>
                <a:latin typeface="Arial"/>
                <a:ea typeface="Arial"/>
                <a:cs typeface="Arial"/>
              </a:defRPr>
            </a:pPr>
            <a:r>
              <a:rPr sz="1275" b="1">
                <a:solidFill>
                  <a:srgbClr val="08737C"/>
                </a:solidFill>
                <a:latin typeface="Arial"/>
                <a:ea typeface="Arial"/>
                <a:cs typeface="Arial"/>
              </a:rPr>
              <a:t>SIGNLIGHT’S RESPONSE</a:t>
            </a:r>
          </a:p>
        </p:txBody>
      </p:sp>
      <p:sp>
        <p:nvSpPr>
          <p:cNvPr id="11" name="">
            <a:extLst xmlns:a="http://schemas.openxmlformats.org/drawingml/2006/main">
              <a:ext uri="{FF2B5EF4-FFF2-40B4-BE49-F238E27FC236}">
                <a16:creationId xmlns:a16="http://schemas.microsoft.com/office/drawing/2014/main" id="{247B7429-C05C-4C8B-9BA0-FB3C6AE3098C}"/>
              </a:ext>
            </a:extLst>
          </p:cNvPr>
          <p:cNvSpPr>
            <a:spLocks xmlns:a="http://schemas.openxmlformats.org/drawingml/2006/main" noGrp="1"/>
          </p:cNvSpPr>
          <p:nvPr/>
        </p:nvSpPr>
        <p:spPr>
          <a:xfrm xmlns:a="http://schemas.openxmlformats.org/drawingml/2006/main">
            <a:off x="6400800" y="23812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A2535"/>
                </a:solidFill>
                <a:latin typeface="Arial"/>
                <a:ea typeface="Arial"/>
                <a:cs typeface="Arial"/>
              </a:defRPr>
            </a:pPr>
            <a:r>
              <a:rPr sz="2325" b="1">
                <a:solidFill>
                  <a:srgbClr val="1A2535"/>
                </a:solidFill>
                <a:latin typeface="Arial"/>
                <a:ea typeface="Arial"/>
                <a:cs typeface="Arial"/>
              </a:rPr>
              <a:t>Watch a model sign</a:t>
            </a:r>
          </a:p>
        </p:txBody>
      </p:sp>
      <p:sp>
        <p:nvSpPr>
          <p:cNvPr id="12" name="">
            <a:extLst xmlns:a="http://schemas.openxmlformats.org/drawingml/2006/main">
              <a:ext uri="{FF2B5EF4-FFF2-40B4-BE49-F238E27FC236}">
                <a16:creationId xmlns:a16="http://schemas.microsoft.com/office/drawing/2014/main" id="{2ACB5D31-D098-49B4-B504-57B2DB6AEED7}"/>
              </a:ext>
            </a:extLst>
          </p:cNvPr>
          <p:cNvSpPr>
            <a:spLocks xmlns:a="http://schemas.openxmlformats.org/drawingml/2006/main" noGrp="1"/>
          </p:cNvSpPr>
          <p:nvPr/>
        </p:nvSpPr>
        <p:spPr>
          <a:xfrm xmlns:a="http://schemas.openxmlformats.org/drawingml/2006/main">
            <a:off x="6400800" y="3133725"/>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A2535"/>
                </a:solidFill>
                <a:latin typeface="Arial"/>
                <a:ea typeface="Arial"/>
                <a:cs typeface="Arial"/>
              </a:defRPr>
            </a:pPr>
            <a:r>
              <a:rPr sz="2325" b="1">
                <a:solidFill>
                  <a:srgbClr val="1A2535"/>
                </a:solidFill>
                <a:latin typeface="Arial"/>
                <a:ea typeface="Arial"/>
                <a:cs typeface="Arial"/>
              </a:rPr>
              <a:t>Practice in front of the camera</a:t>
            </a:r>
          </a:p>
        </p:txBody>
      </p:sp>
      <p:sp>
        <p:nvSpPr>
          <p:cNvPr id="13" name="">
            <a:extLst xmlns:a="http://schemas.openxmlformats.org/drawingml/2006/main">
              <a:ext uri="{FF2B5EF4-FFF2-40B4-BE49-F238E27FC236}">
                <a16:creationId xmlns:a16="http://schemas.microsoft.com/office/drawing/2014/main" id="{549509A1-23ED-4B60-A6C6-7FFFA7004EAD}"/>
              </a:ext>
            </a:extLst>
          </p:cNvPr>
          <p:cNvSpPr>
            <a:spLocks xmlns:a="http://schemas.openxmlformats.org/drawingml/2006/main" noGrp="1"/>
          </p:cNvSpPr>
          <p:nvPr/>
        </p:nvSpPr>
        <p:spPr>
          <a:xfrm xmlns:a="http://schemas.openxmlformats.org/drawingml/2006/main">
            <a:off x="6400800" y="41052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A2535"/>
                </a:solidFill>
                <a:latin typeface="Arial"/>
                <a:ea typeface="Arial"/>
                <a:cs typeface="Arial"/>
              </a:defRPr>
            </a:pPr>
            <a:r>
              <a:rPr sz="2325" b="1">
                <a:solidFill>
                  <a:srgbClr val="1A2535"/>
                </a:solidFill>
                <a:latin typeface="Arial"/>
                <a:ea typeface="Arial"/>
                <a:cs typeface="Arial"/>
              </a:rPr>
              <a:t>Receive a recognized label and guidance</a:t>
            </a:r>
          </a:p>
        </p:txBody>
      </p:sp>
    </p:spTree>
    <p:extLst>
      <p:ext uri="{BB962C8B-B14F-4D97-AF65-F5344CB8AC3E}">
        <p14:creationId xmlns:p14="http://schemas.microsoft.com/office/powerpoint/2010/main" val="464733952"/>
      </p:ext>
    </p:extLst>
  </p:cSld>
</p:sld>
</file>

<file path=ppt/slides/slide4.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2AF101F-7408-4F12-9FB8-431553D33873}"/>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78439A-BFBF-4114-889E-42579C1B40EB}"/>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Published MVP: what users can access</a:t>
            </a:r>
          </a:p>
        </p:txBody>
      </p:sp>
      <p:sp>
        <p:nvSpPr>
          <p:cNvPr id="3" name="">
            <a:extLst xmlns:a="http://schemas.openxmlformats.org/drawingml/2006/main">
              <a:ext uri="{FF2B5EF4-FFF2-40B4-BE49-F238E27FC236}">
                <a16:creationId xmlns:a16="http://schemas.microsoft.com/office/drawing/2014/main" id="{777176DF-E6A1-4CFE-8978-4C26DCCF5E48}"/>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CURRENT DEPLOYED WEB APPLICATION</a:t>
            </a:r>
          </a:p>
        </p:txBody>
      </p:sp>
      <p:sp>
        <p:nvSpPr>
          <p:cNvPr id="4" name="">
            <a:extLst xmlns:a="http://schemas.openxmlformats.org/drawingml/2006/main">
              <a:ext uri="{FF2B5EF4-FFF2-40B4-BE49-F238E27FC236}">
                <a16:creationId xmlns:a16="http://schemas.microsoft.com/office/drawing/2014/main" id="{CEF7C81A-338A-41DE-930E-3EBBC6D9A735}"/>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D42A58-923A-4617-BEDE-E5178EA05FB1}"/>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2B074FA2-3B52-4490-8817-ED0DD9C2766D}"/>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A563F480-F2E2-4456-AF56-14CDE97A77E6}"/>
              </a:ext>
            </a:extLst>
          </p:cNvPr>
          <p:cNvSpPr>
            <a:spLocks xmlns:a="http://schemas.openxmlformats.org/drawingml/2006/main" noGrp="1"/>
          </p:cNvSpPr>
          <p:nvPr/>
        </p:nvSpPr>
        <p:spPr>
          <a:xfrm xmlns:a="http://schemas.openxmlformats.org/drawingml/2006/main">
            <a:off x="733425" y="16573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737C"/>
                </a:solidFill>
                <a:latin typeface="Arial"/>
                <a:ea typeface="Arial"/>
                <a:cs typeface="Arial"/>
              </a:defRPr>
            </a:pPr>
            <a:r>
              <a:rPr sz="2550" b="1">
                <a:solidFill>
                  <a:srgbClr val="08737C"/>
                </a:solidFill>
                <a:latin typeface="Arial"/>
                <a:ea typeface="Arial"/>
                <a:cs typeface="Arial"/>
              </a:rPr>
              <a:t>https://sightlight1.vercel.app/</a:t>
            </a:r>
          </a:p>
        </p:txBody>
      </p:sp>
      <p:sp>
        <p:nvSpPr>
          <p:cNvPr id="8" name="">
            <a:extLst xmlns:a="http://schemas.openxmlformats.org/drawingml/2006/main">
              <a:ext uri="{FF2B5EF4-FFF2-40B4-BE49-F238E27FC236}">
                <a16:creationId xmlns:a16="http://schemas.microsoft.com/office/drawing/2014/main" id="{6FDDEACD-93E8-4ACE-B9B8-70F92AA82E23}"/>
              </a:ext>
            </a:extLst>
          </p:cNvPr>
          <p:cNvSpPr>
            <a:spLocks xmlns:a="http://schemas.openxmlformats.org/drawingml/2006/main" noGrp="1"/>
          </p:cNvSpPr>
          <p:nvPr/>
        </p:nvSpPr>
        <p:spPr>
          <a:xfrm xmlns:a="http://schemas.openxmlformats.org/drawingml/2006/main">
            <a:off x="742950" y="25812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Learning</a:t>
            </a:r>
          </a:p>
        </p:txBody>
      </p:sp>
      <p:sp>
        <p:nvSpPr>
          <p:cNvPr id="9" name="">
            <a:extLst xmlns:a="http://schemas.openxmlformats.org/drawingml/2006/main">
              <a:ext uri="{FF2B5EF4-FFF2-40B4-BE49-F238E27FC236}">
                <a16:creationId xmlns:a16="http://schemas.microsoft.com/office/drawing/2014/main" id="{8CE2882B-6357-4307-B144-9394492FE4B0}"/>
              </a:ext>
            </a:extLst>
          </p:cNvPr>
          <p:cNvSpPr>
            <a:spLocks xmlns:a="http://schemas.openxmlformats.org/drawingml/2006/main" noGrp="1"/>
          </p:cNvSpPr>
          <p:nvPr/>
        </p:nvSpPr>
        <p:spPr>
          <a:xfrm xmlns:a="http://schemas.openxmlformats.org/drawingml/2006/main">
            <a:off x="2924175" y="258127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Learning path, lesson video and progress</a:t>
            </a:r>
          </a:p>
        </p:txBody>
      </p:sp>
      <p:sp>
        <p:nvSpPr>
          <p:cNvPr id="10" name="">
            <a:extLst xmlns:a="http://schemas.openxmlformats.org/drawingml/2006/main">
              <a:ext uri="{FF2B5EF4-FFF2-40B4-BE49-F238E27FC236}">
                <a16:creationId xmlns:a16="http://schemas.microsoft.com/office/drawing/2014/main" id="{71648523-7604-421A-9B5E-16F01D214704}"/>
              </a:ext>
            </a:extLst>
          </p:cNvPr>
          <p:cNvSpPr>
            <a:spLocks xmlns:a="http://schemas.openxmlformats.org/drawingml/2006/main" noGrp="1"/>
          </p:cNvSpPr>
          <p:nvPr/>
        </p:nvSpPr>
        <p:spPr>
          <a:xfrm xmlns:a="http://schemas.openxmlformats.org/drawingml/2006/main">
            <a:off x="733425" y="319087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B7B94B-6BF1-44A7-92DA-7EB5A46D759B}"/>
              </a:ext>
            </a:extLst>
          </p:cNvPr>
          <p:cNvSpPr>
            <a:spLocks xmlns:a="http://schemas.openxmlformats.org/drawingml/2006/main" noGrp="1"/>
          </p:cNvSpPr>
          <p:nvPr/>
        </p:nvSpPr>
        <p:spPr>
          <a:xfrm xmlns:a="http://schemas.openxmlformats.org/drawingml/2006/main">
            <a:off x="742950" y="34004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Practice</a:t>
            </a:r>
          </a:p>
        </p:txBody>
      </p:sp>
      <p:sp>
        <p:nvSpPr>
          <p:cNvPr id="12" name="">
            <a:extLst xmlns:a="http://schemas.openxmlformats.org/drawingml/2006/main">
              <a:ext uri="{FF2B5EF4-FFF2-40B4-BE49-F238E27FC236}">
                <a16:creationId xmlns:a16="http://schemas.microsoft.com/office/drawing/2014/main" id="{83079AED-F663-48CA-8403-F7C2C200FFF5}"/>
              </a:ext>
            </a:extLst>
          </p:cNvPr>
          <p:cNvSpPr>
            <a:spLocks xmlns:a="http://schemas.openxmlformats.org/drawingml/2006/main" noGrp="1"/>
          </p:cNvSpPr>
          <p:nvPr/>
        </p:nvSpPr>
        <p:spPr>
          <a:xfrm xmlns:a="http://schemas.openxmlformats.org/drawingml/2006/main">
            <a:off x="2924175" y="340042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Camera-based sign capture and AI response</a:t>
            </a:r>
          </a:p>
        </p:txBody>
      </p:sp>
      <p:sp>
        <p:nvSpPr>
          <p:cNvPr id="13" name="">
            <a:extLst xmlns:a="http://schemas.openxmlformats.org/drawingml/2006/main">
              <a:ext uri="{FF2B5EF4-FFF2-40B4-BE49-F238E27FC236}">
                <a16:creationId xmlns:a16="http://schemas.microsoft.com/office/drawing/2014/main" id="{BA2CBD8C-89A6-47E9-AB55-3817958DB145}"/>
              </a:ext>
            </a:extLst>
          </p:cNvPr>
          <p:cNvSpPr>
            <a:spLocks xmlns:a="http://schemas.openxmlformats.org/drawingml/2006/main" noGrp="1"/>
          </p:cNvSpPr>
          <p:nvPr/>
        </p:nvSpPr>
        <p:spPr>
          <a:xfrm xmlns:a="http://schemas.openxmlformats.org/drawingml/2006/main">
            <a:off x="733425" y="401002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71021AD-DAE8-4067-8743-66E701BF71B3}"/>
              </a:ext>
            </a:extLst>
          </p:cNvPr>
          <p:cNvSpPr>
            <a:spLocks xmlns:a="http://schemas.openxmlformats.org/drawingml/2006/main" noGrp="1"/>
          </p:cNvSpPr>
          <p:nvPr/>
        </p:nvSpPr>
        <p:spPr>
          <a:xfrm xmlns:a="http://schemas.openxmlformats.org/drawingml/2006/main">
            <a:off x="742950" y="42195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Lookup</a:t>
            </a:r>
          </a:p>
        </p:txBody>
      </p:sp>
      <p:sp>
        <p:nvSpPr>
          <p:cNvPr id="15" name="">
            <a:extLst xmlns:a="http://schemas.openxmlformats.org/drawingml/2006/main">
              <a:ext uri="{FF2B5EF4-FFF2-40B4-BE49-F238E27FC236}">
                <a16:creationId xmlns:a16="http://schemas.microsoft.com/office/drawing/2014/main" id="{03C8EB2F-F486-4502-9264-0CBEF8F4AC96}"/>
              </a:ext>
            </a:extLst>
          </p:cNvPr>
          <p:cNvSpPr>
            <a:spLocks xmlns:a="http://schemas.openxmlformats.org/drawingml/2006/main" noGrp="1"/>
          </p:cNvSpPr>
          <p:nvPr/>
        </p:nvSpPr>
        <p:spPr>
          <a:xfrm xmlns:a="http://schemas.openxmlformats.org/drawingml/2006/main">
            <a:off x="2924175" y="421957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Searchable VSL sign dictionary</a:t>
            </a:r>
          </a:p>
        </p:txBody>
      </p:sp>
      <p:sp>
        <p:nvSpPr>
          <p:cNvPr id="16" name="">
            <a:extLst xmlns:a="http://schemas.openxmlformats.org/drawingml/2006/main">
              <a:ext uri="{FF2B5EF4-FFF2-40B4-BE49-F238E27FC236}">
                <a16:creationId xmlns:a16="http://schemas.microsoft.com/office/drawing/2014/main" id="{178412B0-0917-4A2D-B791-A9843FF67B94}"/>
              </a:ext>
            </a:extLst>
          </p:cNvPr>
          <p:cNvSpPr>
            <a:spLocks xmlns:a="http://schemas.openxmlformats.org/drawingml/2006/main" noGrp="1"/>
          </p:cNvSpPr>
          <p:nvPr/>
        </p:nvSpPr>
        <p:spPr>
          <a:xfrm xmlns:a="http://schemas.openxmlformats.org/drawingml/2006/main">
            <a:off x="733425" y="482917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A245B2-DD2C-4057-B133-C8FAE6AB8EDE}"/>
              </a:ext>
            </a:extLst>
          </p:cNvPr>
          <p:cNvSpPr>
            <a:spLocks xmlns:a="http://schemas.openxmlformats.org/drawingml/2006/main" noGrp="1"/>
          </p:cNvSpPr>
          <p:nvPr/>
        </p:nvSpPr>
        <p:spPr>
          <a:xfrm xmlns:a="http://schemas.openxmlformats.org/drawingml/2006/main">
            <a:off x="742950" y="50387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Plans</a:t>
            </a:r>
          </a:p>
        </p:txBody>
      </p:sp>
      <p:sp>
        <p:nvSpPr>
          <p:cNvPr id="18" name="">
            <a:extLst xmlns:a="http://schemas.openxmlformats.org/drawingml/2006/main">
              <a:ext uri="{FF2B5EF4-FFF2-40B4-BE49-F238E27FC236}">
                <a16:creationId xmlns:a16="http://schemas.microsoft.com/office/drawing/2014/main" id="{C7D2FADB-996F-43AE-A26C-E33824C45C6E}"/>
              </a:ext>
            </a:extLst>
          </p:cNvPr>
          <p:cNvSpPr>
            <a:spLocks xmlns:a="http://schemas.openxmlformats.org/drawingml/2006/main" noGrp="1"/>
          </p:cNvSpPr>
          <p:nvPr/>
        </p:nvSpPr>
        <p:spPr>
          <a:xfrm xmlns:a="http://schemas.openxmlformats.org/drawingml/2006/main">
            <a:off x="2924175" y="503872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1A2535"/>
                </a:solidFill>
                <a:latin typeface="Arial"/>
                <a:ea typeface="Arial"/>
                <a:cs typeface="Arial"/>
              </a:defRPr>
            </a:pPr>
            <a:r>
              <a:rPr sz="2025" b="0">
                <a:solidFill>
                  <a:srgbClr val="1A2535"/>
                </a:solidFill>
                <a:latin typeface="Arial"/>
                <a:ea typeface="Arial"/>
                <a:cs typeface="Arial"/>
              </a:rPr>
              <a:t>Free entry and Premium purchase flow</a:t>
            </a:r>
          </a:p>
        </p:txBody>
      </p:sp>
      <p:sp>
        <p:nvSpPr>
          <p:cNvPr id="19" name="">
            <a:extLst xmlns:a="http://schemas.openxmlformats.org/drawingml/2006/main">
              <a:ext uri="{FF2B5EF4-FFF2-40B4-BE49-F238E27FC236}">
                <a16:creationId xmlns:a16="http://schemas.microsoft.com/office/drawing/2014/main" id="{93FBF15C-EC2E-45A2-B09D-17440FDEC571}"/>
              </a:ext>
            </a:extLst>
          </p:cNvPr>
          <p:cNvSpPr>
            <a:spLocks xmlns:a="http://schemas.openxmlformats.org/drawingml/2006/main" noGrp="1"/>
          </p:cNvSpPr>
          <p:nvPr/>
        </p:nvSpPr>
        <p:spPr>
          <a:xfrm xmlns:a="http://schemas.openxmlformats.org/drawingml/2006/main">
            <a:off x="733425" y="5648325"/>
            <a:ext cx="103441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1741830104"/>
      </p:ext>
    </p:extLst>
  </p:cSld>
</p:sld>
</file>

<file path=ppt/slides/slide5.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214281A-8F9F-4150-816C-1B7759C8202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EF3B70-924B-4017-82C2-47C0EAC256CF}"/>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Team roles and deliverables</a:t>
            </a:r>
          </a:p>
        </p:txBody>
      </p:sp>
      <p:sp>
        <p:nvSpPr>
          <p:cNvPr id="3" name="">
            <a:extLst xmlns:a="http://schemas.openxmlformats.org/drawingml/2006/main">
              <a:ext uri="{FF2B5EF4-FFF2-40B4-BE49-F238E27FC236}">
                <a16:creationId xmlns:a16="http://schemas.microsoft.com/office/drawing/2014/main" id="{D622000E-BDAC-40D2-8C05-CB75ED278EE2}"/>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CLEAR OWNERSHIP FOR CONTENT, BUSINESS AND TECHNOLOGY</a:t>
            </a:r>
          </a:p>
        </p:txBody>
      </p:sp>
      <p:sp>
        <p:nvSpPr>
          <p:cNvPr id="4" name="">
            <a:extLst xmlns:a="http://schemas.openxmlformats.org/drawingml/2006/main">
              <a:ext uri="{FF2B5EF4-FFF2-40B4-BE49-F238E27FC236}">
                <a16:creationId xmlns:a16="http://schemas.microsoft.com/office/drawing/2014/main" id="{E9A03459-9050-4A38-A6CD-68064A896191}"/>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EC4520-B962-4AE2-BFF2-1DC570013931}"/>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3A008416-11C5-4FC0-B44E-7D1AF2F4C682}"/>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CC7483C6-870E-4884-AE39-1C191E40CE6C}"/>
              </a:ext>
            </a:extLst>
          </p:cNvPr>
          <p:cNvSpPr>
            <a:spLocks xmlns:a="http://schemas.openxmlformats.org/drawingml/2006/main" noGrp="1"/>
          </p:cNvSpPr>
          <p:nvPr/>
        </p:nvSpPr>
        <p:spPr>
          <a:xfrm xmlns:a="http://schemas.openxmlformats.org/drawingml/2006/main">
            <a:off x="733425" y="1657350"/>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Lê Tùng Dương</a:t>
            </a:r>
          </a:p>
        </p:txBody>
      </p:sp>
      <p:sp>
        <p:nvSpPr>
          <p:cNvPr id="8" name="">
            <a:extLst xmlns:a="http://schemas.openxmlformats.org/drawingml/2006/main">
              <a:ext uri="{FF2B5EF4-FFF2-40B4-BE49-F238E27FC236}">
                <a16:creationId xmlns:a16="http://schemas.microsoft.com/office/drawing/2014/main" id="{7CF62412-A8D8-4963-8807-21037B98732B}"/>
              </a:ext>
            </a:extLst>
          </p:cNvPr>
          <p:cNvSpPr>
            <a:spLocks xmlns:a="http://schemas.openxmlformats.org/drawingml/2006/main" noGrp="1"/>
          </p:cNvSpPr>
          <p:nvPr/>
        </p:nvSpPr>
        <p:spPr>
          <a:xfrm xmlns:a="http://schemas.openxmlformats.org/drawingml/2006/main">
            <a:off x="4276725" y="1657350"/>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Learning content, quizzes and teaching videos</a:t>
            </a:r>
          </a:p>
        </p:txBody>
      </p:sp>
      <p:sp>
        <p:nvSpPr>
          <p:cNvPr id="9" name="">
            <a:extLst xmlns:a="http://schemas.openxmlformats.org/drawingml/2006/main">
              <a:ext uri="{FF2B5EF4-FFF2-40B4-BE49-F238E27FC236}">
                <a16:creationId xmlns:a16="http://schemas.microsoft.com/office/drawing/2014/main" id="{790C7D7B-3A26-424E-90DC-50B05F6E0796}"/>
              </a:ext>
            </a:extLst>
          </p:cNvPr>
          <p:cNvSpPr>
            <a:spLocks xmlns:a="http://schemas.openxmlformats.org/drawingml/2006/main" noGrp="1"/>
          </p:cNvSpPr>
          <p:nvPr/>
        </p:nvSpPr>
        <p:spPr>
          <a:xfrm xmlns:a="http://schemas.openxmlformats.org/drawingml/2006/main">
            <a:off x="723900" y="2238375"/>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F9F637-788B-4A25-9D28-E324217AD139}"/>
              </a:ext>
            </a:extLst>
          </p:cNvPr>
          <p:cNvSpPr>
            <a:spLocks xmlns:a="http://schemas.openxmlformats.org/drawingml/2006/main" noGrp="1"/>
          </p:cNvSpPr>
          <p:nvPr/>
        </p:nvSpPr>
        <p:spPr>
          <a:xfrm xmlns:a="http://schemas.openxmlformats.org/drawingml/2006/main">
            <a:off x="733425" y="2524125"/>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Phạm Việt Hoàng</a:t>
            </a:r>
          </a:p>
        </p:txBody>
      </p:sp>
      <p:sp>
        <p:nvSpPr>
          <p:cNvPr id="11" name="">
            <a:extLst xmlns:a="http://schemas.openxmlformats.org/drawingml/2006/main">
              <a:ext uri="{FF2B5EF4-FFF2-40B4-BE49-F238E27FC236}">
                <a16:creationId xmlns:a16="http://schemas.microsoft.com/office/drawing/2014/main" id="{A6D5F47D-1F21-4981-A041-8913CA2C017B}"/>
              </a:ext>
            </a:extLst>
          </p:cNvPr>
          <p:cNvSpPr>
            <a:spLocks xmlns:a="http://schemas.openxmlformats.org/drawingml/2006/main" noGrp="1"/>
          </p:cNvSpPr>
          <p:nvPr/>
        </p:nvSpPr>
        <p:spPr>
          <a:xfrm xmlns:a="http://schemas.openxmlformats.org/drawingml/2006/main">
            <a:off x="4276725" y="2524125"/>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Finance, business model and marketing</a:t>
            </a:r>
          </a:p>
        </p:txBody>
      </p:sp>
      <p:sp>
        <p:nvSpPr>
          <p:cNvPr id="12" name="">
            <a:extLst xmlns:a="http://schemas.openxmlformats.org/drawingml/2006/main">
              <a:ext uri="{FF2B5EF4-FFF2-40B4-BE49-F238E27FC236}">
                <a16:creationId xmlns:a16="http://schemas.microsoft.com/office/drawing/2014/main" id="{85A008B7-B750-4EFF-8541-737F5F456744}"/>
              </a:ext>
            </a:extLst>
          </p:cNvPr>
          <p:cNvSpPr>
            <a:spLocks xmlns:a="http://schemas.openxmlformats.org/drawingml/2006/main" noGrp="1"/>
          </p:cNvSpPr>
          <p:nvPr/>
        </p:nvSpPr>
        <p:spPr>
          <a:xfrm xmlns:a="http://schemas.openxmlformats.org/drawingml/2006/main">
            <a:off x="723900" y="3105150"/>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3ED13A2-0782-45E1-9F10-0C103C39250D}"/>
              </a:ext>
            </a:extLst>
          </p:cNvPr>
          <p:cNvSpPr>
            <a:spLocks xmlns:a="http://schemas.openxmlformats.org/drawingml/2006/main" noGrp="1"/>
          </p:cNvSpPr>
          <p:nvPr/>
        </p:nvSpPr>
        <p:spPr>
          <a:xfrm xmlns:a="http://schemas.openxmlformats.org/drawingml/2006/main">
            <a:off x="733425" y="3390900"/>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Hoàng Xuân Thọ</a:t>
            </a:r>
          </a:p>
        </p:txBody>
      </p:sp>
      <p:sp>
        <p:nvSpPr>
          <p:cNvPr id="14" name="">
            <a:extLst xmlns:a="http://schemas.openxmlformats.org/drawingml/2006/main">
              <a:ext uri="{FF2B5EF4-FFF2-40B4-BE49-F238E27FC236}">
                <a16:creationId xmlns:a16="http://schemas.microsoft.com/office/drawing/2014/main" id="{819EB024-8000-4A9A-88FD-BA55F808760F}"/>
              </a:ext>
            </a:extLst>
          </p:cNvPr>
          <p:cNvSpPr>
            <a:spLocks xmlns:a="http://schemas.openxmlformats.org/drawingml/2006/main" noGrp="1"/>
          </p:cNvSpPr>
          <p:nvPr/>
        </p:nvSpPr>
        <p:spPr>
          <a:xfrm xmlns:a="http://schemas.openxmlformats.org/drawingml/2006/main">
            <a:off x="4276725" y="3390900"/>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Finance, business model and marketing</a:t>
            </a:r>
          </a:p>
        </p:txBody>
      </p:sp>
      <p:sp>
        <p:nvSpPr>
          <p:cNvPr id="15" name="">
            <a:extLst xmlns:a="http://schemas.openxmlformats.org/drawingml/2006/main">
              <a:ext uri="{FF2B5EF4-FFF2-40B4-BE49-F238E27FC236}">
                <a16:creationId xmlns:a16="http://schemas.microsoft.com/office/drawing/2014/main" id="{0040254A-6A65-40F2-A2E1-D40A608576B1}"/>
              </a:ext>
            </a:extLst>
          </p:cNvPr>
          <p:cNvSpPr>
            <a:spLocks xmlns:a="http://schemas.openxmlformats.org/drawingml/2006/main" noGrp="1"/>
          </p:cNvSpPr>
          <p:nvPr/>
        </p:nvSpPr>
        <p:spPr>
          <a:xfrm xmlns:a="http://schemas.openxmlformats.org/drawingml/2006/main">
            <a:off x="723900" y="3971925"/>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4C9FA10-920A-4F50-BAC4-E742B8075B39}"/>
              </a:ext>
            </a:extLst>
          </p:cNvPr>
          <p:cNvSpPr>
            <a:spLocks xmlns:a="http://schemas.openxmlformats.org/drawingml/2006/main" noGrp="1"/>
          </p:cNvSpPr>
          <p:nvPr/>
        </p:nvSpPr>
        <p:spPr>
          <a:xfrm xmlns:a="http://schemas.openxmlformats.org/drawingml/2006/main">
            <a:off x="733425" y="4257675"/>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Nguyễn Thế Duy</a:t>
            </a:r>
          </a:p>
        </p:txBody>
      </p:sp>
      <p:sp>
        <p:nvSpPr>
          <p:cNvPr id="17" name="">
            <a:extLst xmlns:a="http://schemas.openxmlformats.org/drawingml/2006/main">
              <a:ext uri="{FF2B5EF4-FFF2-40B4-BE49-F238E27FC236}">
                <a16:creationId xmlns:a16="http://schemas.microsoft.com/office/drawing/2014/main" id="{C3BD33D7-CCE8-4A88-B527-E7FB87B720C6}"/>
              </a:ext>
            </a:extLst>
          </p:cNvPr>
          <p:cNvSpPr>
            <a:spLocks xmlns:a="http://schemas.openxmlformats.org/drawingml/2006/main" noGrp="1"/>
          </p:cNvSpPr>
          <p:nvPr/>
        </p:nvSpPr>
        <p:spPr>
          <a:xfrm xmlns:a="http://schemas.openxmlformats.org/drawingml/2006/main">
            <a:off x="4276725" y="4257675"/>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Landing page, backend and product interface</a:t>
            </a:r>
          </a:p>
        </p:txBody>
      </p:sp>
      <p:sp>
        <p:nvSpPr>
          <p:cNvPr id="18" name="">
            <a:extLst xmlns:a="http://schemas.openxmlformats.org/drawingml/2006/main">
              <a:ext uri="{FF2B5EF4-FFF2-40B4-BE49-F238E27FC236}">
                <a16:creationId xmlns:a16="http://schemas.microsoft.com/office/drawing/2014/main" id="{471C4E10-7095-41D6-BFFA-A94576109B10}"/>
              </a:ext>
            </a:extLst>
          </p:cNvPr>
          <p:cNvSpPr>
            <a:spLocks xmlns:a="http://schemas.openxmlformats.org/drawingml/2006/main" noGrp="1"/>
          </p:cNvSpPr>
          <p:nvPr/>
        </p:nvSpPr>
        <p:spPr>
          <a:xfrm xmlns:a="http://schemas.openxmlformats.org/drawingml/2006/main">
            <a:off x="723900" y="4838700"/>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566D945-2A96-449D-B83E-4DEC35F99E64}"/>
              </a:ext>
            </a:extLst>
          </p:cNvPr>
          <p:cNvSpPr>
            <a:spLocks xmlns:a="http://schemas.openxmlformats.org/drawingml/2006/main" noGrp="1"/>
          </p:cNvSpPr>
          <p:nvPr/>
        </p:nvSpPr>
        <p:spPr>
          <a:xfrm xmlns:a="http://schemas.openxmlformats.org/drawingml/2006/main">
            <a:off x="733425" y="5124450"/>
            <a:ext cx="346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31B2E"/>
                </a:solidFill>
                <a:latin typeface="Arial"/>
                <a:ea typeface="Arial"/>
                <a:cs typeface="Arial"/>
              </a:defRPr>
            </a:pPr>
            <a:r>
              <a:rPr sz="2100" b="1">
                <a:solidFill>
                  <a:srgbClr val="131B2E"/>
                </a:solidFill>
                <a:latin typeface="Arial"/>
                <a:ea typeface="Arial"/>
                <a:cs typeface="Arial"/>
              </a:rPr>
              <a:t>Phan Bùi Bá Đạt</a:t>
            </a:r>
          </a:p>
        </p:txBody>
      </p:sp>
      <p:sp>
        <p:nvSpPr>
          <p:cNvPr id="20" name="">
            <a:extLst xmlns:a="http://schemas.openxmlformats.org/drawingml/2006/main">
              <a:ext uri="{FF2B5EF4-FFF2-40B4-BE49-F238E27FC236}">
                <a16:creationId xmlns:a16="http://schemas.microsoft.com/office/drawing/2014/main" id="{B7C50879-EE8F-4A5C-8952-6600B52A18B7}"/>
              </a:ext>
            </a:extLst>
          </p:cNvPr>
          <p:cNvSpPr>
            <a:spLocks xmlns:a="http://schemas.openxmlformats.org/drawingml/2006/main" noGrp="1"/>
          </p:cNvSpPr>
          <p:nvPr/>
        </p:nvSpPr>
        <p:spPr>
          <a:xfrm xmlns:a="http://schemas.openxmlformats.org/drawingml/2006/main">
            <a:off x="4276725" y="5124450"/>
            <a:ext cx="693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1A2535"/>
                </a:solidFill>
                <a:latin typeface="Arial"/>
                <a:ea typeface="Arial"/>
                <a:cs typeface="Arial"/>
              </a:defRPr>
            </a:pPr>
            <a:r>
              <a:rPr sz="1950" b="0">
                <a:solidFill>
                  <a:srgbClr val="1A2535"/>
                </a:solidFill>
                <a:latin typeface="Arial"/>
                <a:ea typeface="Arial"/>
                <a:cs typeface="Arial"/>
              </a:rPr>
              <a:t>AI model training and camera AI function</a:t>
            </a:r>
          </a:p>
        </p:txBody>
      </p:sp>
      <p:sp>
        <p:nvSpPr>
          <p:cNvPr id="21" name="">
            <a:extLst xmlns:a="http://schemas.openxmlformats.org/drawingml/2006/main">
              <a:ext uri="{FF2B5EF4-FFF2-40B4-BE49-F238E27FC236}">
                <a16:creationId xmlns:a16="http://schemas.microsoft.com/office/drawing/2014/main" id="{1C170009-738D-45BF-980A-AF9EA3C379BE}"/>
              </a:ext>
            </a:extLst>
          </p:cNvPr>
          <p:cNvSpPr>
            <a:spLocks xmlns:a="http://schemas.openxmlformats.org/drawingml/2006/main" noGrp="1"/>
          </p:cNvSpPr>
          <p:nvPr/>
        </p:nvSpPr>
        <p:spPr>
          <a:xfrm xmlns:a="http://schemas.openxmlformats.org/drawingml/2006/main">
            <a:off x="723900" y="5705475"/>
            <a:ext cx="105060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623760818"/>
      </p:ext>
    </p:extLst>
  </p:cSld>
</p:sld>
</file>

<file path=ppt/slides/slide6.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E76DB3F-DD03-49C6-BCDE-551EDCB0B874}"/>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C2C3B0-2077-4357-83E7-FCB98A8BF5E8}"/>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Product catalog and proposed prices</a:t>
            </a:r>
          </a:p>
        </p:txBody>
      </p:sp>
      <p:sp>
        <p:nvSpPr>
          <p:cNvPr id="3" name="">
            <a:extLst xmlns:a="http://schemas.openxmlformats.org/drawingml/2006/main">
              <a:ext uri="{FF2B5EF4-FFF2-40B4-BE49-F238E27FC236}">
                <a16:creationId xmlns:a16="http://schemas.microsoft.com/office/drawing/2014/main" id="{89E4DAAF-B0C5-4480-B341-988681770ED0}"/>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PRICING CURRENTLY REPRESENTED IN THE PRODUCT CODE</a:t>
            </a:r>
          </a:p>
        </p:txBody>
      </p:sp>
      <p:sp>
        <p:nvSpPr>
          <p:cNvPr id="4" name="">
            <a:extLst xmlns:a="http://schemas.openxmlformats.org/drawingml/2006/main">
              <a:ext uri="{FF2B5EF4-FFF2-40B4-BE49-F238E27FC236}">
                <a16:creationId xmlns:a16="http://schemas.microsoft.com/office/drawing/2014/main" id="{0B35253F-EB31-4F44-A7E7-0BE0F3D41051}"/>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4717B0-1387-4B31-93F9-E8C1557E67B2}"/>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CD993BDD-F9D7-476D-A830-099EFF86C39C}"/>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2C8B673D-EB1B-40D4-A1DB-7C44C46C2219}"/>
              </a:ext>
            </a:extLst>
          </p:cNvPr>
          <p:cNvSpPr>
            <a:spLocks xmlns:a="http://schemas.openxmlformats.org/drawingml/2006/main" noGrp="1"/>
          </p:cNvSpPr>
          <p:nvPr/>
        </p:nvSpPr>
        <p:spPr>
          <a:xfrm xmlns:a="http://schemas.openxmlformats.org/drawingml/2006/main">
            <a:off x="714375" y="197167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Free</a:t>
            </a:r>
          </a:p>
        </p:txBody>
      </p:sp>
      <p:sp>
        <p:nvSpPr>
          <p:cNvPr id="8" name="">
            <a:extLst xmlns:a="http://schemas.openxmlformats.org/drawingml/2006/main">
              <a:ext uri="{FF2B5EF4-FFF2-40B4-BE49-F238E27FC236}">
                <a16:creationId xmlns:a16="http://schemas.microsoft.com/office/drawing/2014/main" id="{31E93A94-7555-4D89-A429-091E731E45A9}"/>
              </a:ext>
            </a:extLst>
          </p:cNvPr>
          <p:cNvSpPr>
            <a:spLocks xmlns:a="http://schemas.openxmlformats.org/drawingml/2006/main" noGrp="1"/>
          </p:cNvSpPr>
          <p:nvPr/>
        </p:nvSpPr>
        <p:spPr>
          <a:xfrm xmlns:a="http://schemas.openxmlformats.org/drawingml/2006/main">
            <a:off x="714375"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₫0</a:t>
            </a:r>
          </a:p>
        </p:txBody>
      </p:sp>
      <p:sp>
        <p:nvSpPr>
          <p:cNvPr id="9" name="">
            <a:extLst xmlns:a="http://schemas.openxmlformats.org/drawingml/2006/main">
              <a:ext uri="{FF2B5EF4-FFF2-40B4-BE49-F238E27FC236}">
                <a16:creationId xmlns:a16="http://schemas.microsoft.com/office/drawing/2014/main" id="{0488540D-08B5-4122-9F43-6C6E755AE020}"/>
              </a:ext>
            </a:extLst>
          </p:cNvPr>
          <p:cNvSpPr>
            <a:spLocks xmlns:a="http://schemas.openxmlformats.org/drawingml/2006/main" noGrp="1"/>
          </p:cNvSpPr>
          <p:nvPr/>
        </p:nvSpPr>
        <p:spPr>
          <a:xfrm xmlns:a="http://schemas.openxmlformats.org/drawingml/2006/main">
            <a:off x="714375" y="3457575"/>
            <a:ext cx="2324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First learning unit; limited daily AI practice</a:t>
            </a:r>
          </a:p>
        </p:txBody>
      </p:sp>
      <p:sp>
        <p:nvSpPr>
          <p:cNvPr id="10" name="">
            <a:extLst xmlns:a="http://schemas.openxmlformats.org/drawingml/2006/main">
              <a:ext uri="{FF2B5EF4-FFF2-40B4-BE49-F238E27FC236}">
                <a16:creationId xmlns:a16="http://schemas.microsoft.com/office/drawing/2014/main" id="{BF4E6B0A-C0C7-4C58-A161-4D01EDDEF6D6}"/>
              </a:ext>
            </a:extLst>
          </p:cNvPr>
          <p:cNvSpPr>
            <a:spLocks xmlns:a="http://schemas.openxmlformats.org/drawingml/2006/main" noGrp="1"/>
          </p:cNvSpPr>
          <p:nvPr/>
        </p:nvSpPr>
        <p:spPr>
          <a:xfrm xmlns:a="http://schemas.openxmlformats.org/drawingml/2006/main">
            <a:off x="3171825" y="2019300"/>
            <a:ext cx="9525" cy="285750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454951-67C9-4CEC-B638-B6B26F10373B}"/>
              </a:ext>
            </a:extLst>
          </p:cNvPr>
          <p:cNvSpPr>
            <a:spLocks xmlns:a="http://schemas.openxmlformats.org/drawingml/2006/main" noGrp="1"/>
          </p:cNvSpPr>
          <p:nvPr/>
        </p:nvSpPr>
        <p:spPr>
          <a:xfrm xmlns:a="http://schemas.openxmlformats.org/drawingml/2006/main">
            <a:off x="3305175" y="1971675"/>
            <a:ext cx="3086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Premium 1 month</a:t>
            </a:r>
          </a:p>
        </p:txBody>
      </p:sp>
      <p:sp>
        <p:nvSpPr>
          <p:cNvPr id="12" name="">
            <a:extLst xmlns:a="http://schemas.openxmlformats.org/drawingml/2006/main">
              <a:ext uri="{FF2B5EF4-FFF2-40B4-BE49-F238E27FC236}">
                <a16:creationId xmlns:a16="http://schemas.microsoft.com/office/drawing/2014/main" id="{62BBE880-6A26-418A-9EFD-90D013C844FE}"/>
              </a:ext>
            </a:extLst>
          </p:cNvPr>
          <p:cNvSpPr>
            <a:spLocks xmlns:a="http://schemas.openxmlformats.org/drawingml/2006/main" noGrp="1"/>
          </p:cNvSpPr>
          <p:nvPr/>
        </p:nvSpPr>
        <p:spPr>
          <a:xfrm xmlns:a="http://schemas.openxmlformats.org/drawingml/2006/main">
            <a:off x="3305175" y="2619375"/>
            <a:ext cx="3086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₫99,000</a:t>
            </a:r>
          </a:p>
        </p:txBody>
      </p:sp>
      <p:sp>
        <p:nvSpPr>
          <p:cNvPr id="13" name="">
            <a:extLst xmlns:a="http://schemas.openxmlformats.org/drawingml/2006/main">
              <a:ext uri="{FF2B5EF4-FFF2-40B4-BE49-F238E27FC236}">
                <a16:creationId xmlns:a16="http://schemas.microsoft.com/office/drawing/2014/main" id="{EB817678-6BF3-4963-B12E-CD77FD83503C}"/>
              </a:ext>
            </a:extLst>
          </p:cNvPr>
          <p:cNvSpPr>
            <a:spLocks xmlns:a="http://schemas.openxmlformats.org/drawingml/2006/main" noGrp="1"/>
          </p:cNvSpPr>
          <p:nvPr/>
        </p:nvSpPr>
        <p:spPr>
          <a:xfrm xmlns:a="http://schemas.openxmlformats.org/drawingml/2006/main">
            <a:off x="3305175" y="3457575"/>
            <a:ext cx="30099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Full course and unlimited AI practice</a:t>
            </a:r>
          </a:p>
        </p:txBody>
      </p:sp>
      <p:sp>
        <p:nvSpPr>
          <p:cNvPr id="14" name="">
            <a:extLst xmlns:a="http://schemas.openxmlformats.org/drawingml/2006/main">
              <a:ext uri="{FF2B5EF4-FFF2-40B4-BE49-F238E27FC236}">
                <a16:creationId xmlns:a16="http://schemas.microsoft.com/office/drawing/2014/main" id="{1F196B2D-DCBC-4A6C-AA38-022C43D1F7B4}"/>
              </a:ext>
            </a:extLst>
          </p:cNvPr>
          <p:cNvSpPr>
            <a:spLocks xmlns:a="http://schemas.openxmlformats.org/drawingml/2006/main" noGrp="1"/>
          </p:cNvSpPr>
          <p:nvPr/>
        </p:nvSpPr>
        <p:spPr>
          <a:xfrm xmlns:a="http://schemas.openxmlformats.org/drawingml/2006/main">
            <a:off x="6448425" y="2019300"/>
            <a:ext cx="9525" cy="285750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0CDF6ED-E659-42F6-8313-A92B0EA9082B}"/>
              </a:ext>
            </a:extLst>
          </p:cNvPr>
          <p:cNvSpPr>
            <a:spLocks xmlns:a="http://schemas.openxmlformats.org/drawingml/2006/main" noGrp="1"/>
          </p:cNvSpPr>
          <p:nvPr/>
        </p:nvSpPr>
        <p:spPr>
          <a:xfrm xmlns:a="http://schemas.openxmlformats.org/drawingml/2006/main">
            <a:off x="6572250" y="197167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161"/>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Premium 6 months</a:t>
            </a:r>
          </a:p>
        </p:txBody>
      </p:sp>
      <p:sp>
        <p:nvSpPr>
          <p:cNvPr id="16" name="">
            <a:extLst xmlns:a="http://schemas.openxmlformats.org/drawingml/2006/main">
              <a:ext uri="{FF2B5EF4-FFF2-40B4-BE49-F238E27FC236}">
                <a16:creationId xmlns:a16="http://schemas.microsoft.com/office/drawing/2014/main" id="{7F94797B-161E-474C-BD5F-8717E10F8B86}"/>
              </a:ext>
            </a:extLst>
          </p:cNvPr>
          <p:cNvSpPr>
            <a:spLocks xmlns:a="http://schemas.openxmlformats.org/drawingml/2006/main" noGrp="1"/>
          </p:cNvSpPr>
          <p:nvPr/>
        </p:nvSpPr>
        <p:spPr>
          <a:xfrm xmlns:a="http://schemas.openxmlformats.org/drawingml/2006/main">
            <a:off x="6572250" y="2619375"/>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₫499,000</a:t>
            </a:r>
          </a:p>
        </p:txBody>
      </p:sp>
      <p:sp>
        <p:nvSpPr>
          <p:cNvPr id="17" name="">
            <a:extLst xmlns:a="http://schemas.openxmlformats.org/drawingml/2006/main">
              <a:ext uri="{FF2B5EF4-FFF2-40B4-BE49-F238E27FC236}">
                <a16:creationId xmlns:a16="http://schemas.microsoft.com/office/drawing/2014/main" id="{ACA5FAD9-A735-4019-ADE5-E3CA6056F89D}"/>
              </a:ext>
            </a:extLst>
          </p:cNvPr>
          <p:cNvSpPr>
            <a:spLocks xmlns:a="http://schemas.openxmlformats.org/drawingml/2006/main" noGrp="1"/>
          </p:cNvSpPr>
          <p:nvPr/>
        </p:nvSpPr>
        <p:spPr>
          <a:xfrm xmlns:a="http://schemas.openxmlformats.org/drawingml/2006/main">
            <a:off x="6572250" y="3457575"/>
            <a:ext cx="1962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Full course and unlimited AI practice</a:t>
            </a:r>
          </a:p>
        </p:txBody>
      </p:sp>
      <p:sp>
        <p:nvSpPr>
          <p:cNvPr id="18" name="">
            <a:extLst xmlns:a="http://schemas.openxmlformats.org/drawingml/2006/main">
              <a:ext uri="{FF2B5EF4-FFF2-40B4-BE49-F238E27FC236}">
                <a16:creationId xmlns:a16="http://schemas.microsoft.com/office/drawing/2014/main" id="{90FA8CDE-5DE7-4193-9E47-2C43594C79D5}"/>
              </a:ext>
            </a:extLst>
          </p:cNvPr>
          <p:cNvSpPr>
            <a:spLocks xmlns:a="http://schemas.openxmlformats.org/drawingml/2006/main" noGrp="1"/>
          </p:cNvSpPr>
          <p:nvPr/>
        </p:nvSpPr>
        <p:spPr>
          <a:xfrm xmlns:a="http://schemas.openxmlformats.org/drawingml/2006/main">
            <a:off x="8667750" y="2019300"/>
            <a:ext cx="9525" cy="285750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86AD37D-3009-49E2-ABC6-F140949FF9F2}"/>
              </a:ext>
            </a:extLst>
          </p:cNvPr>
          <p:cNvSpPr>
            <a:spLocks xmlns:a="http://schemas.openxmlformats.org/drawingml/2006/main" noGrp="1"/>
          </p:cNvSpPr>
          <p:nvPr/>
        </p:nvSpPr>
        <p:spPr>
          <a:xfrm xmlns:a="http://schemas.openxmlformats.org/drawingml/2006/main">
            <a:off x="8801100" y="1971675"/>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31B2E"/>
                </a:solidFill>
                <a:latin typeface="Arial"/>
                <a:ea typeface="Arial"/>
                <a:cs typeface="Arial"/>
              </a:defRPr>
            </a:pPr>
            <a:r>
              <a:rPr sz="2025" b="1">
                <a:solidFill>
                  <a:srgbClr val="131B2E"/>
                </a:solidFill>
                <a:latin typeface="Arial"/>
                <a:ea typeface="Arial"/>
                <a:cs typeface="Arial"/>
              </a:rPr>
              <a:t>Premium 1 year</a:t>
            </a:r>
          </a:p>
        </p:txBody>
      </p:sp>
      <p:sp>
        <p:nvSpPr>
          <p:cNvPr id="20" name="">
            <a:extLst xmlns:a="http://schemas.openxmlformats.org/drawingml/2006/main">
              <a:ext uri="{FF2B5EF4-FFF2-40B4-BE49-F238E27FC236}">
                <a16:creationId xmlns:a16="http://schemas.microsoft.com/office/drawing/2014/main" id="{2A8BE57E-BF39-4806-B447-FA24D49F9B46}"/>
              </a:ext>
            </a:extLst>
          </p:cNvPr>
          <p:cNvSpPr>
            <a:spLocks xmlns:a="http://schemas.openxmlformats.org/drawingml/2006/main" noGrp="1"/>
          </p:cNvSpPr>
          <p:nvPr/>
        </p:nvSpPr>
        <p:spPr>
          <a:xfrm xmlns:a="http://schemas.openxmlformats.org/drawingml/2006/main">
            <a:off x="8801100" y="2619375"/>
            <a:ext cx="2495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75" b="1">
                <a:solidFill>
                  <a:srgbClr val="08737C"/>
                </a:solidFill>
                <a:latin typeface="Arial"/>
                <a:ea typeface="Arial"/>
                <a:cs typeface="Arial"/>
              </a:defRPr>
            </a:pPr>
            <a:r>
              <a:rPr sz="2775" b="1">
                <a:solidFill>
                  <a:srgbClr val="08737C"/>
                </a:solidFill>
                <a:latin typeface="Arial"/>
                <a:ea typeface="Arial"/>
                <a:cs typeface="Arial"/>
              </a:rPr>
              <a:t>₫899,000</a:t>
            </a:r>
          </a:p>
        </p:txBody>
      </p:sp>
      <p:sp>
        <p:nvSpPr>
          <p:cNvPr id="21" name="">
            <a:extLst xmlns:a="http://schemas.openxmlformats.org/drawingml/2006/main">
              <a:ext uri="{FF2B5EF4-FFF2-40B4-BE49-F238E27FC236}">
                <a16:creationId xmlns:a16="http://schemas.microsoft.com/office/drawing/2014/main" id="{26AA751A-59A1-4EED-84B8-88DDA1CE77D0}"/>
              </a:ext>
            </a:extLst>
          </p:cNvPr>
          <p:cNvSpPr>
            <a:spLocks xmlns:a="http://schemas.openxmlformats.org/drawingml/2006/main" noGrp="1"/>
          </p:cNvSpPr>
          <p:nvPr/>
        </p:nvSpPr>
        <p:spPr>
          <a:xfrm xmlns:a="http://schemas.openxmlformats.org/drawingml/2006/main">
            <a:off x="8801100" y="3457575"/>
            <a:ext cx="24193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A2535"/>
                </a:solidFill>
                <a:latin typeface="Arial"/>
                <a:ea typeface="Arial"/>
                <a:cs typeface="Arial"/>
              </a:defRPr>
            </a:pPr>
            <a:r>
              <a:rPr sz="1725" b="0">
                <a:solidFill>
                  <a:srgbClr val="1A2535"/>
                </a:solidFill>
                <a:latin typeface="Arial"/>
                <a:ea typeface="Arial"/>
                <a:cs typeface="Arial"/>
              </a:rPr>
              <a:t>Full course and unlimited AI practice</a:t>
            </a:r>
          </a:p>
        </p:txBody>
      </p:sp>
      <p:sp>
        <p:nvSpPr>
          <p:cNvPr id="22" name="">
            <a:extLst xmlns:a="http://schemas.openxmlformats.org/drawingml/2006/main">
              <a:ext uri="{FF2B5EF4-FFF2-40B4-BE49-F238E27FC236}">
                <a16:creationId xmlns:a16="http://schemas.microsoft.com/office/drawing/2014/main" id="{6070C69C-5ED7-4721-AE64-950406B2A884}"/>
              </a:ext>
            </a:extLst>
          </p:cNvPr>
          <p:cNvSpPr>
            <a:spLocks xmlns:a="http://schemas.openxmlformats.org/drawingml/2006/main" noGrp="1"/>
          </p:cNvSpPr>
          <p:nvPr/>
        </p:nvSpPr>
        <p:spPr>
          <a:xfrm xmlns:a="http://schemas.openxmlformats.org/drawingml/2006/main">
            <a:off x="7334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Prices are proposed for EXE201 and may be revised after user and cost validation.</a:t>
            </a:r>
          </a:p>
        </p:txBody>
      </p:sp>
    </p:spTree>
    <p:extLst>
      <p:ext uri="{BB962C8B-B14F-4D97-AF65-F5344CB8AC3E}">
        <p14:creationId xmlns:p14="http://schemas.microsoft.com/office/powerpoint/2010/main" val="1219416596"/>
      </p:ext>
    </p:extLst>
  </p:cSld>
</p:sld>
</file>

<file path=ppt/slides/slide7.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FA49F74-2277-4DBC-9E8C-93733D333DA4}"/>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60D071-B6B9-4FEB-A570-11E8F6693D03}"/>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How the camera practice works</a:t>
            </a:r>
          </a:p>
        </p:txBody>
      </p:sp>
      <p:sp>
        <p:nvSpPr>
          <p:cNvPr id="3" name="">
            <a:extLst xmlns:a="http://schemas.openxmlformats.org/drawingml/2006/main">
              <a:ext uri="{FF2B5EF4-FFF2-40B4-BE49-F238E27FC236}">
                <a16:creationId xmlns:a16="http://schemas.microsoft.com/office/drawing/2014/main" id="{3EC697C6-6F75-479F-AEB3-06979E588DDB}"/>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CURRENT IMPLEMENTATION AND PRIVACY BOUNDARY</a:t>
            </a:r>
          </a:p>
        </p:txBody>
      </p:sp>
      <p:sp>
        <p:nvSpPr>
          <p:cNvPr id="4" name="">
            <a:extLst xmlns:a="http://schemas.openxmlformats.org/drawingml/2006/main">
              <a:ext uri="{FF2B5EF4-FFF2-40B4-BE49-F238E27FC236}">
                <a16:creationId xmlns:a16="http://schemas.microsoft.com/office/drawing/2014/main" id="{8D01BA13-6D94-452E-8701-8BF713D59B80}"/>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EE3F8D-CA6C-4254-8B9E-4C426CD1CF9B}"/>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1EA77010-1A10-44E9-8AC3-3277D938BEB5}"/>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BD10B440-2370-4498-8DD6-C2F292112F82}"/>
              </a:ext>
            </a:extLst>
          </p:cNvPr>
          <p:cNvSpPr>
            <a:spLocks xmlns:a="http://schemas.openxmlformats.org/drawingml/2006/main" noGrp="1"/>
          </p:cNvSpPr>
          <p:nvPr/>
        </p:nvSpPr>
        <p:spPr>
          <a:xfrm xmlns:a="http://schemas.openxmlformats.org/drawingml/2006/main">
            <a:off x="733425" y="16573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208CC56B-25C6-4E42-B145-D8F29E1046D6}"/>
              </a:ext>
            </a:extLst>
          </p:cNvPr>
          <p:cNvSpPr>
            <a:spLocks xmlns:a="http://schemas.openxmlformats.org/drawingml/2006/main" noGrp="1"/>
          </p:cNvSpPr>
          <p:nvPr/>
        </p:nvSpPr>
        <p:spPr>
          <a:xfrm xmlns:a="http://schemas.openxmlformats.org/drawingml/2006/main">
            <a:off x="1495425" y="16573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Watch a VSL video</a:t>
            </a:r>
          </a:p>
        </p:txBody>
      </p:sp>
      <p:sp>
        <p:nvSpPr>
          <p:cNvPr id="9" name="">
            <a:extLst xmlns:a="http://schemas.openxmlformats.org/drawingml/2006/main">
              <a:ext uri="{FF2B5EF4-FFF2-40B4-BE49-F238E27FC236}">
                <a16:creationId xmlns:a16="http://schemas.microsoft.com/office/drawing/2014/main" id="{762C3BCB-0C1C-4285-BDBF-EDF61F4FF478}"/>
              </a:ext>
            </a:extLst>
          </p:cNvPr>
          <p:cNvSpPr>
            <a:spLocks xmlns:a="http://schemas.openxmlformats.org/drawingml/2006/main" noGrp="1"/>
          </p:cNvSpPr>
          <p:nvPr/>
        </p:nvSpPr>
        <p:spPr>
          <a:xfrm xmlns:a="http://schemas.openxmlformats.org/drawingml/2006/main">
            <a:off x="4695825" y="165735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Learner sees the target sign</a:t>
            </a:r>
          </a:p>
        </p:txBody>
      </p:sp>
      <p:sp>
        <p:nvSpPr>
          <p:cNvPr id="10" name="">
            <a:extLst xmlns:a="http://schemas.openxmlformats.org/drawingml/2006/main">
              <a:ext uri="{FF2B5EF4-FFF2-40B4-BE49-F238E27FC236}">
                <a16:creationId xmlns:a16="http://schemas.microsoft.com/office/drawing/2014/main" id="{4008C316-5E4A-4D26-A822-A6D4B2FC260F}"/>
              </a:ext>
            </a:extLst>
          </p:cNvPr>
          <p:cNvSpPr>
            <a:spLocks xmlns:a="http://schemas.openxmlformats.org/drawingml/2006/main" noGrp="1"/>
          </p:cNvSpPr>
          <p:nvPr/>
        </p:nvSpPr>
        <p:spPr>
          <a:xfrm xmlns:a="http://schemas.openxmlformats.org/drawingml/2006/main">
            <a:off x="723900" y="239077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2EADAE-A26F-4848-BFAF-072C53FC5FA9}"/>
              </a:ext>
            </a:extLst>
          </p:cNvPr>
          <p:cNvSpPr>
            <a:spLocks xmlns:a="http://schemas.openxmlformats.org/drawingml/2006/main" noGrp="1"/>
          </p:cNvSpPr>
          <p:nvPr/>
        </p:nvSpPr>
        <p:spPr>
          <a:xfrm xmlns:a="http://schemas.openxmlformats.org/drawingml/2006/main">
            <a:off x="733425" y="27051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1B2B38C-BFF5-4D5D-96CE-054B0BF83E60}"/>
              </a:ext>
            </a:extLst>
          </p:cNvPr>
          <p:cNvSpPr>
            <a:spLocks xmlns:a="http://schemas.openxmlformats.org/drawingml/2006/main" noGrp="1"/>
          </p:cNvSpPr>
          <p:nvPr/>
        </p:nvSpPr>
        <p:spPr>
          <a:xfrm xmlns:a="http://schemas.openxmlformats.org/drawingml/2006/main">
            <a:off x="1495425" y="27051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Capture movement</a:t>
            </a:r>
          </a:p>
        </p:txBody>
      </p:sp>
      <p:sp>
        <p:nvSpPr>
          <p:cNvPr id="13" name="">
            <a:extLst xmlns:a="http://schemas.openxmlformats.org/drawingml/2006/main">
              <a:ext uri="{FF2B5EF4-FFF2-40B4-BE49-F238E27FC236}">
                <a16:creationId xmlns:a16="http://schemas.microsoft.com/office/drawing/2014/main" id="{D6AAA528-AE38-499A-ADFD-96C07F464332}"/>
              </a:ext>
            </a:extLst>
          </p:cNvPr>
          <p:cNvSpPr>
            <a:spLocks xmlns:a="http://schemas.openxmlformats.org/drawingml/2006/main" noGrp="1"/>
          </p:cNvSpPr>
          <p:nvPr/>
        </p:nvSpPr>
        <p:spPr>
          <a:xfrm xmlns:a="http://schemas.openxmlformats.org/drawingml/2006/main">
            <a:off x="4695825" y="270510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Browser reads webcam frames</a:t>
            </a:r>
          </a:p>
        </p:txBody>
      </p:sp>
      <p:sp>
        <p:nvSpPr>
          <p:cNvPr id="14" name="">
            <a:extLst xmlns:a="http://schemas.openxmlformats.org/drawingml/2006/main">
              <a:ext uri="{FF2B5EF4-FFF2-40B4-BE49-F238E27FC236}">
                <a16:creationId xmlns:a16="http://schemas.microsoft.com/office/drawing/2014/main" id="{BC7AD811-0C91-418A-AFBB-503638B26F08}"/>
              </a:ext>
            </a:extLst>
          </p:cNvPr>
          <p:cNvSpPr>
            <a:spLocks xmlns:a="http://schemas.openxmlformats.org/drawingml/2006/main" noGrp="1"/>
          </p:cNvSpPr>
          <p:nvPr/>
        </p:nvSpPr>
        <p:spPr>
          <a:xfrm xmlns:a="http://schemas.openxmlformats.org/drawingml/2006/main">
            <a:off x="723900" y="343852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E094ACC-136E-40C9-ABED-896D9E812F68}"/>
              </a:ext>
            </a:extLst>
          </p:cNvPr>
          <p:cNvSpPr>
            <a:spLocks xmlns:a="http://schemas.openxmlformats.org/drawingml/2006/main" noGrp="1"/>
          </p:cNvSpPr>
          <p:nvPr/>
        </p:nvSpPr>
        <p:spPr>
          <a:xfrm xmlns:a="http://schemas.openxmlformats.org/drawingml/2006/main">
            <a:off x="733425" y="37528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C01A463C-8D2B-469F-9E44-E52C92834B8A}"/>
              </a:ext>
            </a:extLst>
          </p:cNvPr>
          <p:cNvSpPr>
            <a:spLocks xmlns:a="http://schemas.openxmlformats.org/drawingml/2006/main" noGrp="1"/>
          </p:cNvSpPr>
          <p:nvPr/>
        </p:nvSpPr>
        <p:spPr>
          <a:xfrm xmlns:a="http://schemas.openxmlformats.org/drawingml/2006/main">
            <a:off x="1495425" y="37528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Extract and infer</a:t>
            </a:r>
          </a:p>
        </p:txBody>
      </p:sp>
      <p:sp>
        <p:nvSpPr>
          <p:cNvPr id="17" name="">
            <a:extLst xmlns:a="http://schemas.openxmlformats.org/drawingml/2006/main">
              <a:ext uri="{FF2B5EF4-FFF2-40B4-BE49-F238E27FC236}">
                <a16:creationId xmlns:a16="http://schemas.microsoft.com/office/drawing/2014/main" id="{0F482826-7CDB-4079-A5CE-83F7CE563238}"/>
              </a:ext>
            </a:extLst>
          </p:cNvPr>
          <p:cNvSpPr>
            <a:spLocks xmlns:a="http://schemas.openxmlformats.org/drawingml/2006/main" noGrp="1"/>
          </p:cNvSpPr>
          <p:nvPr/>
        </p:nvSpPr>
        <p:spPr>
          <a:xfrm xmlns:a="http://schemas.openxmlformats.org/drawingml/2006/main">
            <a:off x="4695825" y="375285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Landmarks become a 64 × 327 tensor; ONNX runs in the browser</a:t>
            </a:r>
          </a:p>
        </p:txBody>
      </p:sp>
      <p:sp>
        <p:nvSpPr>
          <p:cNvPr id="18" name="">
            <a:extLst xmlns:a="http://schemas.openxmlformats.org/drawingml/2006/main">
              <a:ext uri="{FF2B5EF4-FFF2-40B4-BE49-F238E27FC236}">
                <a16:creationId xmlns:a16="http://schemas.microsoft.com/office/drawing/2014/main" id="{CB450EB3-074E-4339-A58D-269E58D42101}"/>
              </a:ext>
            </a:extLst>
          </p:cNvPr>
          <p:cNvSpPr>
            <a:spLocks xmlns:a="http://schemas.openxmlformats.org/drawingml/2006/main" noGrp="1"/>
          </p:cNvSpPr>
          <p:nvPr/>
        </p:nvSpPr>
        <p:spPr>
          <a:xfrm xmlns:a="http://schemas.openxmlformats.org/drawingml/2006/main">
            <a:off x="723900" y="448627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EA8483F-6C2E-468A-88DC-5D97C5C98A0F}"/>
              </a:ext>
            </a:extLst>
          </p:cNvPr>
          <p:cNvSpPr>
            <a:spLocks xmlns:a="http://schemas.openxmlformats.org/drawingml/2006/main" noGrp="1"/>
          </p:cNvSpPr>
          <p:nvPr/>
        </p:nvSpPr>
        <p:spPr>
          <a:xfrm xmlns:a="http://schemas.openxmlformats.org/drawingml/2006/main">
            <a:off x="733425" y="48006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688E9878-4143-4850-908E-1088C1836CD8}"/>
              </a:ext>
            </a:extLst>
          </p:cNvPr>
          <p:cNvSpPr>
            <a:spLocks xmlns:a="http://schemas.openxmlformats.org/drawingml/2006/main" noGrp="1"/>
          </p:cNvSpPr>
          <p:nvPr/>
        </p:nvSpPr>
        <p:spPr>
          <a:xfrm xmlns:a="http://schemas.openxmlformats.org/drawingml/2006/main">
            <a:off x="1495425" y="48006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Record the attempt</a:t>
            </a:r>
          </a:p>
        </p:txBody>
      </p:sp>
      <p:sp>
        <p:nvSpPr>
          <p:cNvPr id="21" name="">
            <a:extLst xmlns:a="http://schemas.openxmlformats.org/drawingml/2006/main">
              <a:ext uri="{FF2B5EF4-FFF2-40B4-BE49-F238E27FC236}">
                <a16:creationId xmlns:a16="http://schemas.microsoft.com/office/drawing/2014/main" id="{479331EE-EA9C-4E5B-B347-2CC4051B98DC}"/>
              </a:ext>
            </a:extLst>
          </p:cNvPr>
          <p:cNvSpPr>
            <a:spLocks xmlns:a="http://schemas.openxmlformats.org/drawingml/2006/main" noGrp="1"/>
          </p:cNvSpPr>
          <p:nvPr/>
        </p:nvSpPr>
        <p:spPr>
          <a:xfrm xmlns:a="http://schemas.openxmlformats.org/drawingml/2006/main">
            <a:off x="4695825" y="4800600"/>
            <a:ext cx="649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Backend tracks result and daily quota</a:t>
            </a:r>
          </a:p>
        </p:txBody>
      </p:sp>
      <p:sp>
        <p:nvSpPr>
          <p:cNvPr id="22" name="">
            <a:extLst xmlns:a="http://schemas.openxmlformats.org/drawingml/2006/main">
              <a:ext uri="{FF2B5EF4-FFF2-40B4-BE49-F238E27FC236}">
                <a16:creationId xmlns:a16="http://schemas.microsoft.com/office/drawing/2014/main" id="{5C97BCCB-12F7-4CB7-87C3-37C7C8607F23}"/>
              </a:ext>
            </a:extLst>
          </p:cNvPr>
          <p:cNvSpPr>
            <a:spLocks xmlns:a="http://schemas.openxmlformats.org/drawingml/2006/main" noGrp="1"/>
          </p:cNvSpPr>
          <p:nvPr/>
        </p:nvSpPr>
        <p:spPr>
          <a:xfrm xmlns:a="http://schemas.openxmlformats.org/drawingml/2006/main">
            <a:off x="723900" y="5534025"/>
            <a:ext cx="105156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44A16A4-6434-4459-9E7A-82D6530DC09E}"/>
              </a:ext>
            </a:extLst>
          </p:cNvPr>
          <p:cNvSpPr>
            <a:spLocks xmlns:a="http://schemas.openxmlformats.org/drawingml/2006/main" noGrp="1"/>
          </p:cNvSpPr>
          <p:nvPr/>
        </p:nvSpPr>
        <p:spPr>
          <a:xfrm xmlns:a="http://schemas.openxmlformats.org/drawingml/2006/main">
            <a:off x="733425" y="5753100"/>
            <a:ext cx="1038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00"/>
          </a:bodyPr>
          <a:lstStyle xmlns:a="http://schemas.openxmlformats.org/drawingml/2006/main"/>
          <a:p xmlns:a="http://schemas.openxmlformats.org/drawingml/2006/main">
            <a:pPr algn="l">
              <a:defRPr sz="1875" b="1">
                <a:solidFill>
                  <a:srgbClr val="0B8E68"/>
                </a:solidFill>
                <a:latin typeface="Arial"/>
                <a:ea typeface="Arial"/>
                <a:cs typeface="Arial"/>
              </a:defRPr>
            </a:pPr>
            <a:r>
              <a:rPr sz="1875" b="1">
                <a:solidFill>
                  <a:srgbClr val="0B8E68"/>
                </a:solidFill>
                <a:latin typeface="Arial"/>
                <a:ea typeface="Arial"/>
                <a:cs typeface="Arial"/>
              </a:rPr>
              <a:t>Camera pixels stay on the learner’s device.</a:t>
            </a:r>
          </a:p>
        </p:txBody>
      </p:sp>
    </p:spTree>
    <p:extLst>
      <p:ext uri="{BB962C8B-B14F-4D97-AF65-F5344CB8AC3E}">
        <p14:creationId xmlns:p14="http://schemas.microsoft.com/office/powerpoint/2010/main" val="1657871389"/>
      </p:ext>
    </p:extLst>
  </p:cSld>
</p:sld>
</file>

<file path=ppt/slides/slide8.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460E5C-DC0B-4A9E-8894-0367F8F8919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079740-D742-493A-83F0-ADF34C3EB95B}"/>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Live demo: one learner journey</a:t>
            </a:r>
          </a:p>
        </p:txBody>
      </p:sp>
      <p:sp>
        <p:nvSpPr>
          <p:cNvPr id="3" name="">
            <a:extLst xmlns:a="http://schemas.openxmlformats.org/drawingml/2006/main">
              <a:ext uri="{FF2B5EF4-FFF2-40B4-BE49-F238E27FC236}">
                <a16:creationId xmlns:a16="http://schemas.microsoft.com/office/drawing/2014/main" id="{8146334D-9FE7-483C-A4E7-532673F45FC1}"/>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OPEN THE PUBLISHED PRODUCT</a:t>
            </a:r>
          </a:p>
        </p:txBody>
      </p:sp>
      <p:sp>
        <p:nvSpPr>
          <p:cNvPr id="4" name="">
            <a:extLst xmlns:a="http://schemas.openxmlformats.org/drawingml/2006/main">
              <a:ext uri="{FF2B5EF4-FFF2-40B4-BE49-F238E27FC236}">
                <a16:creationId xmlns:a16="http://schemas.microsoft.com/office/drawing/2014/main" id="{46F86F07-1491-486F-9C25-01A6DEDFAE9B}"/>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C1535D-2674-482A-9D90-12C3C684229C}"/>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3F031418-CE8D-46F7-92E2-B6E5F648D573}"/>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5119D1BC-8EF1-4DD3-90C2-0242733DD56C}"/>
              </a:ext>
            </a:extLst>
          </p:cNvPr>
          <p:cNvSpPr>
            <a:spLocks xmlns:a="http://schemas.openxmlformats.org/drawingml/2006/main" noGrp="1"/>
          </p:cNvSpPr>
          <p:nvPr/>
        </p:nvSpPr>
        <p:spPr>
          <a:xfrm xmlns:a="http://schemas.openxmlformats.org/drawingml/2006/main">
            <a:off x="714375" y="1685925"/>
            <a:ext cx="9858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75" b="1">
                <a:solidFill>
                  <a:srgbClr val="08737C"/>
                </a:solidFill>
                <a:latin typeface="Arial"/>
                <a:ea typeface="Arial"/>
                <a:cs typeface="Arial"/>
              </a:defRPr>
            </a:pPr>
            <a:r>
              <a:rPr sz="3675" b="1">
                <a:solidFill>
                  <a:srgbClr val="08737C"/>
                </a:solidFill>
                <a:latin typeface="Arial"/>
                <a:ea typeface="Arial"/>
                <a:cs typeface="Arial"/>
              </a:rPr>
              <a:t>sightlight1.vercel.app</a:t>
            </a:r>
          </a:p>
        </p:txBody>
      </p:sp>
      <p:sp>
        <p:nvSpPr>
          <p:cNvPr id="8" name="">
            <a:extLst xmlns:a="http://schemas.openxmlformats.org/drawingml/2006/main">
              <a:ext uri="{FF2B5EF4-FFF2-40B4-BE49-F238E27FC236}">
                <a16:creationId xmlns:a16="http://schemas.microsoft.com/office/drawing/2014/main" id="{3A05675E-057A-4E8F-92CB-9306173709B2}"/>
              </a:ext>
            </a:extLst>
          </p:cNvPr>
          <p:cNvSpPr>
            <a:spLocks xmlns:a="http://schemas.openxmlformats.org/drawingml/2006/main" noGrp="1"/>
          </p:cNvSpPr>
          <p:nvPr/>
        </p:nvSpPr>
        <p:spPr>
          <a:xfrm xmlns:a="http://schemas.openxmlformats.org/drawingml/2006/main">
            <a:off x="752475" y="27813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FE1B9110-73CC-4FDB-AED1-750E5BFE159B}"/>
              </a:ext>
            </a:extLst>
          </p:cNvPr>
          <p:cNvSpPr>
            <a:spLocks xmlns:a="http://schemas.openxmlformats.org/drawingml/2006/main" noGrp="1"/>
          </p:cNvSpPr>
          <p:nvPr/>
        </p:nvSpPr>
        <p:spPr>
          <a:xfrm xmlns:a="http://schemas.openxmlformats.org/drawingml/2006/main">
            <a:off x="1428750" y="2781300"/>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Sign in and open the learning path</a:t>
            </a:r>
          </a:p>
        </p:txBody>
      </p:sp>
      <p:sp>
        <p:nvSpPr>
          <p:cNvPr id="10" name="">
            <a:extLst xmlns:a="http://schemas.openxmlformats.org/drawingml/2006/main">
              <a:ext uri="{FF2B5EF4-FFF2-40B4-BE49-F238E27FC236}">
                <a16:creationId xmlns:a16="http://schemas.microsoft.com/office/drawing/2014/main" id="{27BD7899-9E75-4A7C-A526-A1091BBA5300}"/>
              </a:ext>
            </a:extLst>
          </p:cNvPr>
          <p:cNvSpPr>
            <a:spLocks xmlns:a="http://schemas.openxmlformats.org/drawingml/2006/main" noGrp="1"/>
          </p:cNvSpPr>
          <p:nvPr/>
        </p:nvSpPr>
        <p:spPr>
          <a:xfrm xmlns:a="http://schemas.openxmlformats.org/drawingml/2006/main">
            <a:off x="752475" y="35147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23A8B64-2709-4EDD-9D7E-64E5381B8BF9}"/>
              </a:ext>
            </a:extLst>
          </p:cNvPr>
          <p:cNvSpPr>
            <a:spLocks xmlns:a="http://schemas.openxmlformats.org/drawingml/2006/main" noGrp="1"/>
          </p:cNvSpPr>
          <p:nvPr/>
        </p:nvSpPr>
        <p:spPr>
          <a:xfrm xmlns:a="http://schemas.openxmlformats.org/drawingml/2006/main">
            <a:off x="1428750" y="3514725"/>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Play a lesson video</a:t>
            </a:r>
          </a:p>
        </p:txBody>
      </p:sp>
      <p:sp>
        <p:nvSpPr>
          <p:cNvPr id="12" name="">
            <a:extLst xmlns:a="http://schemas.openxmlformats.org/drawingml/2006/main">
              <a:ext uri="{FF2B5EF4-FFF2-40B4-BE49-F238E27FC236}">
                <a16:creationId xmlns:a16="http://schemas.microsoft.com/office/drawing/2014/main" id="{EC7F8EDB-E6CB-4DEE-9841-0A4F3AE51B74}"/>
              </a:ext>
            </a:extLst>
          </p:cNvPr>
          <p:cNvSpPr>
            <a:spLocks xmlns:a="http://schemas.openxmlformats.org/drawingml/2006/main" noGrp="1"/>
          </p:cNvSpPr>
          <p:nvPr/>
        </p:nvSpPr>
        <p:spPr>
          <a:xfrm xmlns:a="http://schemas.openxmlformats.org/drawingml/2006/main">
            <a:off x="752475" y="42481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7FFBDD9A-0ACC-4D3B-9429-48708A24C92E}"/>
              </a:ext>
            </a:extLst>
          </p:cNvPr>
          <p:cNvSpPr>
            <a:spLocks xmlns:a="http://schemas.openxmlformats.org/drawingml/2006/main" noGrp="1"/>
          </p:cNvSpPr>
          <p:nvPr/>
        </p:nvSpPr>
        <p:spPr>
          <a:xfrm xmlns:a="http://schemas.openxmlformats.org/drawingml/2006/main">
            <a:off x="1428750" y="4248150"/>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Perform a sign in Camera AI</a:t>
            </a:r>
          </a:p>
        </p:txBody>
      </p:sp>
      <p:sp>
        <p:nvSpPr>
          <p:cNvPr id="14" name="">
            <a:extLst xmlns:a="http://schemas.openxmlformats.org/drawingml/2006/main">
              <a:ext uri="{FF2B5EF4-FFF2-40B4-BE49-F238E27FC236}">
                <a16:creationId xmlns:a16="http://schemas.microsoft.com/office/drawing/2014/main" id="{C770CB9A-B54C-4C5C-880F-C7A385020EAA}"/>
              </a:ext>
            </a:extLst>
          </p:cNvPr>
          <p:cNvSpPr>
            <a:spLocks xmlns:a="http://schemas.openxmlformats.org/drawingml/2006/main" noGrp="1"/>
          </p:cNvSpPr>
          <p:nvPr/>
        </p:nvSpPr>
        <p:spPr>
          <a:xfrm xmlns:a="http://schemas.openxmlformats.org/drawingml/2006/main">
            <a:off x="752475" y="49815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08737C"/>
                </a:solidFill>
                <a:latin typeface="Arial"/>
                <a:ea typeface="Arial"/>
                <a:cs typeface="Arial"/>
              </a:defRPr>
            </a:pPr>
            <a:r>
              <a:rPr sz="2175" b="1">
                <a:solidFill>
                  <a:srgbClr val="08737C"/>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64BA5591-5839-44F2-9820-A89DCA9A5F59}"/>
              </a:ext>
            </a:extLst>
          </p:cNvPr>
          <p:cNvSpPr>
            <a:spLocks xmlns:a="http://schemas.openxmlformats.org/drawingml/2006/main" noGrp="1"/>
          </p:cNvSpPr>
          <p:nvPr/>
        </p:nvSpPr>
        <p:spPr>
          <a:xfrm xmlns:a="http://schemas.openxmlformats.org/drawingml/2006/main">
            <a:off x="1428750" y="4981575"/>
            <a:ext cx="889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31B2E"/>
                </a:solidFill>
                <a:latin typeface="Arial"/>
                <a:ea typeface="Arial"/>
                <a:cs typeface="Arial"/>
              </a:defRPr>
            </a:pPr>
            <a:r>
              <a:rPr sz="2250" b="1">
                <a:solidFill>
                  <a:srgbClr val="131B2E"/>
                </a:solidFill>
                <a:latin typeface="Arial"/>
                <a:ea typeface="Arial"/>
                <a:cs typeface="Arial"/>
              </a:rPr>
              <a:t>Read the feedback and look up a sign</a:t>
            </a:r>
          </a:p>
        </p:txBody>
      </p:sp>
    </p:spTree>
    <p:extLst>
      <p:ext uri="{BB962C8B-B14F-4D97-AF65-F5344CB8AC3E}">
        <p14:creationId xmlns:p14="http://schemas.microsoft.com/office/powerpoint/2010/main" val="1744146330"/>
      </p:ext>
    </p:extLst>
  </p:cSld>
</p:sld>
</file>

<file path=ppt/slides/slide9.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33688C-1725-4278-9218-617F1B6377D2}"/>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408BB9-BBD9-4CEC-9C68-FB9831B71B99}"/>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Demo 1: lesson and learning path</a:t>
            </a:r>
          </a:p>
        </p:txBody>
      </p:sp>
      <p:sp>
        <p:nvSpPr>
          <p:cNvPr id="3" name="">
            <a:extLst xmlns:a="http://schemas.openxmlformats.org/drawingml/2006/main">
              <a:ext uri="{FF2B5EF4-FFF2-40B4-BE49-F238E27FC236}">
                <a16:creationId xmlns:a16="http://schemas.microsoft.com/office/drawing/2014/main" id="{98DDFFC8-A80C-4270-9D8E-91746A9B5B63}"/>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SHOW WHAT THE LEARNER CAN DO BEFORE TURNING ON THE CAMERA</a:t>
            </a:r>
          </a:p>
        </p:txBody>
      </p:sp>
      <p:sp>
        <p:nvSpPr>
          <p:cNvPr id="4" name="">
            <a:extLst xmlns:a="http://schemas.openxmlformats.org/drawingml/2006/main">
              <a:ext uri="{FF2B5EF4-FFF2-40B4-BE49-F238E27FC236}">
                <a16:creationId xmlns:a16="http://schemas.microsoft.com/office/drawing/2014/main" id="{2E9A5DCF-DCF2-45DD-9A1A-10BEFCDD33B5}"/>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C78952-1F0B-43AC-AB7E-4567E68F9071}"/>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F95AD2B6-38AE-4577-B685-144CD6051734}"/>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309527A6-6B17-4316-BA1B-5CA8F23755C0}"/>
              </a:ext>
            </a:extLst>
          </p:cNvPr>
          <p:cNvSpPr>
            <a:spLocks xmlns:a="http://schemas.openxmlformats.org/drawingml/2006/main" noGrp="1"/>
          </p:cNvSpPr>
          <p:nvPr/>
        </p:nvSpPr>
        <p:spPr>
          <a:xfrm xmlns:a="http://schemas.openxmlformats.org/drawingml/2006/main">
            <a:off x="762000" y="1657350"/>
            <a:ext cx="26955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75" b="1">
                <a:solidFill>
                  <a:srgbClr val="08737C"/>
                </a:solidFill>
                <a:latin typeface="Arial"/>
                <a:ea typeface="Arial"/>
                <a:cs typeface="Arial"/>
              </a:defRPr>
            </a:pPr>
            <a:r>
              <a:rPr sz="3675" b="1">
                <a:solidFill>
                  <a:srgbClr val="08737C"/>
                </a:solidFill>
                <a:latin typeface="Arial"/>
                <a:ea typeface="Arial"/>
                <a:cs typeface="Arial"/>
              </a:rPr>
              <a:t>/hoc</a:t>
            </a:r>
          </a:p>
        </p:txBody>
      </p:sp>
      <p:sp>
        <p:nvSpPr>
          <p:cNvPr id="8" name="">
            <a:extLst xmlns:a="http://schemas.openxmlformats.org/drawingml/2006/main">
              <a:ext uri="{FF2B5EF4-FFF2-40B4-BE49-F238E27FC236}">
                <a16:creationId xmlns:a16="http://schemas.microsoft.com/office/drawing/2014/main" id="{F8DF188B-BA88-4ACD-96C0-84D2370C6E69}"/>
              </a:ext>
            </a:extLst>
          </p:cNvPr>
          <p:cNvSpPr>
            <a:spLocks xmlns:a="http://schemas.openxmlformats.org/drawingml/2006/main" noGrp="1"/>
          </p:cNvSpPr>
          <p:nvPr/>
        </p:nvSpPr>
        <p:spPr>
          <a:xfrm xmlns:a="http://schemas.openxmlformats.org/drawingml/2006/main">
            <a:off x="762000" y="2428875"/>
            <a:ext cx="1040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1B2E"/>
                </a:solidFill>
                <a:latin typeface="Arial"/>
                <a:ea typeface="Arial"/>
                <a:cs typeface="Arial"/>
              </a:defRPr>
            </a:pPr>
            <a:r>
              <a:rPr sz="2325" b="1">
                <a:solidFill>
                  <a:srgbClr val="131B2E"/>
                </a:solidFill>
                <a:latin typeface="Arial"/>
                <a:ea typeface="Arial"/>
                <a:cs typeface="Arial"/>
              </a:rPr>
              <a:t>Browse the course and open an available lesson.</a:t>
            </a:r>
          </a:p>
        </p:txBody>
      </p:sp>
      <p:sp>
        <p:nvSpPr>
          <p:cNvPr id="9" name="">
            <a:extLst xmlns:a="http://schemas.openxmlformats.org/drawingml/2006/main">
              <a:ext uri="{FF2B5EF4-FFF2-40B4-BE49-F238E27FC236}">
                <a16:creationId xmlns:a16="http://schemas.microsoft.com/office/drawing/2014/main" id="{F3E219C6-C389-45B8-B673-0766AD81BE4C}"/>
              </a:ext>
            </a:extLst>
          </p:cNvPr>
          <p:cNvSpPr>
            <a:spLocks xmlns:a="http://schemas.openxmlformats.org/drawingml/2006/main" noGrp="1"/>
          </p:cNvSpPr>
          <p:nvPr/>
        </p:nvSpPr>
        <p:spPr>
          <a:xfrm xmlns:a="http://schemas.openxmlformats.org/drawingml/2006/main">
            <a:off x="742950" y="3305175"/>
            <a:ext cx="1047750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003F9D-603B-4214-A5A2-E4044847DD9A}"/>
              </a:ext>
            </a:extLst>
          </p:cNvPr>
          <p:cNvSpPr>
            <a:spLocks xmlns:a="http://schemas.openxmlformats.org/drawingml/2006/main" noGrp="1"/>
          </p:cNvSpPr>
          <p:nvPr/>
        </p:nvSpPr>
        <p:spPr>
          <a:xfrm xmlns:a="http://schemas.openxmlformats.org/drawingml/2006/main">
            <a:off x="762000" y="35433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546474"/>
                </a:solidFill>
                <a:latin typeface="Arial"/>
                <a:ea typeface="Arial"/>
                <a:cs typeface="Arial"/>
              </a:defRPr>
            </a:pPr>
            <a:r>
              <a:rPr sz="1725" b="1">
                <a:solidFill>
                  <a:srgbClr val="546474"/>
                </a:solidFill>
                <a:latin typeface="Arial"/>
                <a:ea typeface="Arial"/>
                <a:cs typeface="Arial"/>
              </a:rPr>
              <a:t>During the demo</a:t>
            </a:r>
          </a:p>
        </p:txBody>
      </p:sp>
      <p:sp>
        <p:nvSpPr>
          <p:cNvPr id="11" name="">
            <a:extLst xmlns:a="http://schemas.openxmlformats.org/drawingml/2006/main">
              <a:ext uri="{FF2B5EF4-FFF2-40B4-BE49-F238E27FC236}">
                <a16:creationId xmlns:a16="http://schemas.microsoft.com/office/drawing/2014/main" id="{594AF145-2C49-4BD1-A06D-1F63B0066826}"/>
              </a:ext>
            </a:extLst>
          </p:cNvPr>
          <p:cNvSpPr>
            <a:spLocks xmlns:a="http://schemas.openxmlformats.org/drawingml/2006/main" noGrp="1"/>
          </p:cNvSpPr>
          <p:nvPr/>
        </p:nvSpPr>
        <p:spPr>
          <a:xfrm xmlns:a="http://schemas.openxmlformats.org/drawingml/2006/main">
            <a:off x="762000" y="4114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A2535"/>
                </a:solidFill>
                <a:latin typeface="Arial"/>
                <a:ea typeface="Arial"/>
                <a:cs typeface="Arial"/>
              </a:defRPr>
            </a:pPr>
            <a:r>
              <a:rPr sz="2100" b="0">
                <a:solidFill>
                  <a:srgbClr val="1A2535"/>
                </a:solidFill>
                <a:latin typeface="Arial"/>
                <a:ea typeface="Arial"/>
                <a:cs typeface="Arial"/>
              </a:rPr>
              <a:t>Play the sign video • answer a lesson question • show saved progress</a:t>
            </a:r>
          </a:p>
        </p:txBody>
      </p:sp>
      <p:sp>
        <p:nvSpPr>
          <p:cNvPr id="12" name="">
            <a:extLst xmlns:a="http://schemas.openxmlformats.org/drawingml/2006/main">
              <a:ext uri="{FF2B5EF4-FFF2-40B4-BE49-F238E27FC236}">
                <a16:creationId xmlns:a16="http://schemas.microsoft.com/office/drawing/2014/main" id="{0AD74003-A1CE-4710-A3CD-56C4DC06913B}"/>
              </a:ext>
            </a:extLst>
          </p:cNvPr>
          <p:cNvSpPr>
            <a:spLocks xmlns:a="http://schemas.openxmlformats.org/drawingml/2006/main" noGrp="1"/>
          </p:cNvSpPr>
          <p:nvPr/>
        </p:nvSpPr>
        <p:spPr>
          <a:xfrm xmlns:a="http://schemas.openxmlformats.org/drawingml/2006/main">
            <a:off x="762000" y="5476875"/>
            <a:ext cx="1026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8737C"/>
                </a:solidFill>
                <a:latin typeface="Arial"/>
                <a:ea typeface="Arial"/>
                <a:cs typeface="Arial"/>
              </a:defRPr>
            </a:pPr>
            <a:r>
              <a:rPr sz="1650" b="1">
                <a:solidFill>
                  <a:srgbClr val="08737C"/>
                </a:solidFill>
                <a:latin typeface="Arial"/>
                <a:ea typeface="Arial"/>
                <a:cs typeface="Arial"/>
              </a:rPr>
              <a:t>Presenter: Nguyễn Thế Duy  +  Lê Tùng Dương</a:t>
            </a:r>
          </a:p>
        </p:txBody>
      </p:sp>
    </p:spTree>
    <p:extLst>
      <p:ext uri="{BB962C8B-B14F-4D97-AF65-F5344CB8AC3E}">
        <p14:creationId xmlns:p14="http://schemas.microsoft.com/office/powerpoint/2010/main" val="1434852000"/>
      </p:ext>
    </p:extLst>
  </p:cSld>
</p:sld>
</file>

<file path=ppt/slides/slide10.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64C54E7-FE82-494C-B1DF-C4775491408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37067D-48D2-4CF0-8D36-8B91F9C295FF}"/>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Demo 2: Camera AI</a:t>
            </a:r>
          </a:p>
        </p:txBody>
      </p:sp>
      <p:sp>
        <p:nvSpPr>
          <p:cNvPr id="3" name="">
            <a:extLst xmlns:a="http://schemas.openxmlformats.org/drawingml/2006/main">
              <a:ext uri="{FF2B5EF4-FFF2-40B4-BE49-F238E27FC236}">
                <a16:creationId xmlns:a16="http://schemas.microsoft.com/office/drawing/2014/main" id="{5702ABE1-C41C-4AFB-BCE1-2E7FAF6EDFE7}"/>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THE MAIN PRODUCT DEMONSTRATION</a:t>
            </a:r>
          </a:p>
        </p:txBody>
      </p:sp>
      <p:sp>
        <p:nvSpPr>
          <p:cNvPr id="4" name="">
            <a:extLst xmlns:a="http://schemas.openxmlformats.org/drawingml/2006/main">
              <a:ext uri="{FF2B5EF4-FFF2-40B4-BE49-F238E27FC236}">
                <a16:creationId xmlns:a16="http://schemas.microsoft.com/office/drawing/2014/main" id="{BA01B9BD-A82B-4D8A-97DA-1E2301D77FB9}"/>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3BCA00-3CF9-4AE7-867B-AED0FA0AE144}"/>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159CF9F5-1A16-40E4-8CFA-AB1D33BF8671}"/>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75E889DE-4565-4376-A007-88A92CACDC6B}"/>
              </a:ext>
            </a:extLst>
          </p:cNvPr>
          <p:cNvSpPr>
            <a:spLocks xmlns:a="http://schemas.openxmlformats.org/drawingml/2006/main" noGrp="1"/>
          </p:cNvSpPr>
          <p:nvPr/>
        </p:nvSpPr>
        <p:spPr>
          <a:xfrm xmlns:a="http://schemas.openxmlformats.org/drawingml/2006/main">
            <a:off x="742950" y="1581150"/>
            <a:ext cx="5076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75" b="1">
                <a:solidFill>
                  <a:srgbClr val="08737C"/>
                </a:solidFill>
                <a:latin typeface="Arial"/>
                <a:ea typeface="Arial"/>
                <a:cs typeface="Arial"/>
              </a:defRPr>
            </a:pPr>
            <a:r>
              <a:rPr sz="3675" b="1">
                <a:solidFill>
                  <a:srgbClr val="08737C"/>
                </a:solidFill>
                <a:latin typeface="Arial"/>
                <a:ea typeface="Arial"/>
                <a:cs typeface="Arial"/>
              </a:rPr>
              <a:t>/luyen-ai</a:t>
            </a:r>
          </a:p>
        </p:txBody>
      </p:sp>
      <p:sp>
        <p:nvSpPr>
          <p:cNvPr id="8" name="">
            <a:extLst xmlns:a="http://schemas.openxmlformats.org/drawingml/2006/main">
              <a:ext uri="{FF2B5EF4-FFF2-40B4-BE49-F238E27FC236}">
                <a16:creationId xmlns:a16="http://schemas.microsoft.com/office/drawing/2014/main" id="{F7037EB6-CDCD-4359-BA2A-D86583CE13A0}"/>
              </a:ext>
            </a:extLst>
          </p:cNvPr>
          <p:cNvSpPr>
            <a:spLocks xmlns:a="http://schemas.openxmlformats.org/drawingml/2006/main" noGrp="1"/>
          </p:cNvSpPr>
          <p:nvPr/>
        </p:nvSpPr>
        <p:spPr>
          <a:xfrm xmlns:a="http://schemas.openxmlformats.org/drawingml/2006/main">
            <a:off x="762000" y="2505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2AE2AF7B-C4CF-495F-A325-5A453649E57A}"/>
              </a:ext>
            </a:extLst>
          </p:cNvPr>
          <p:cNvSpPr>
            <a:spLocks xmlns:a="http://schemas.openxmlformats.org/drawingml/2006/main" noGrp="1"/>
          </p:cNvSpPr>
          <p:nvPr/>
        </p:nvSpPr>
        <p:spPr>
          <a:xfrm xmlns:a="http://schemas.openxmlformats.org/drawingml/2006/main">
            <a:off x="1514475" y="2505075"/>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Choose a target sign and watch the model video</a:t>
            </a:r>
          </a:p>
        </p:txBody>
      </p:sp>
      <p:sp>
        <p:nvSpPr>
          <p:cNvPr id="10" name="">
            <a:extLst xmlns:a="http://schemas.openxmlformats.org/drawingml/2006/main">
              <a:ext uri="{FF2B5EF4-FFF2-40B4-BE49-F238E27FC236}">
                <a16:creationId xmlns:a16="http://schemas.microsoft.com/office/drawing/2014/main" id="{8E7A584D-BEF2-499B-96BD-B991A1A83CEE}"/>
              </a:ext>
            </a:extLst>
          </p:cNvPr>
          <p:cNvSpPr>
            <a:spLocks xmlns:a="http://schemas.openxmlformats.org/drawingml/2006/main" noGrp="1"/>
          </p:cNvSpPr>
          <p:nvPr/>
        </p:nvSpPr>
        <p:spPr>
          <a:xfrm xmlns:a="http://schemas.openxmlformats.org/drawingml/2006/main">
            <a:off x="752475" y="31813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B11F010-44F1-41EA-BB8E-B9AA822F96AC}"/>
              </a:ext>
            </a:extLst>
          </p:cNvPr>
          <p:cNvSpPr>
            <a:spLocks xmlns:a="http://schemas.openxmlformats.org/drawingml/2006/main" noGrp="1"/>
          </p:cNvSpPr>
          <p:nvPr/>
        </p:nvSpPr>
        <p:spPr>
          <a:xfrm xmlns:a="http://schemas.openxmlformats.org/drawingml/2006/main">
            <a:off x="762000" y="33718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D6632BBF-B1AC-41E1-B194-F9D65D8DECE2}"/>
              </a:ext>
            </a:extLst>
          </p:cNvPr>
          <p:cNvSpPr>
            <a:spLocks xmlns:a="http://schemas.openxmlformats.org/drawingml/2006/main" noGrp="1"/>
          </p:cNvSpPr>
          <p:nvPr/>
        </p:nvSpPr>
        <p:spPr>
          <a:xfrm xmlns:a="http://schemas.openxmlformats.org/drawingml/2006/main">
            <a:off x="1514475" y="3371850"/>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Allow camera access and complete one full movement</a:t>
            </a:r>
          </a:p>
        </p:txBody>
      </p:sp>
      <p:sp>
        <p:nvSpPr>
          <p:cNvPr id="13" name="">
            <a:extLst xmlns:a="http://schemas.openxmlformats.org/drawingml/2006/main">
              <a:ext uri="{FF2B5EF4-FFF2-40B4-BE49-F238E27FC236}">
                <a16:creationId xmlns:a16="http://schemas.microsoft.com/office/drawing/2014/main" id="{D90F60B2-4881-4411-BDF8-2280040666EE}"/>
              </a:ext>
            </a:extLst>
          </p:cNvPr>
          <p:cNvSpPr>
            <a:spLocks xmlns:a="http://schemas.openxmlformats.org/drawingml/2006/main" noGrp="1"/>
          </p:cNvSpPr>
          <p:nvPr/>
        </p:nvSpPr>
        <p:spPr>
          <a:xfrm xmlns:a="http://schemas.openxmlformats.org/drawingml/2006/main">
            <a:off x="752475" y="4048125"/>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6B79E4-6982-4B1C-BB25-076C2FFF3DD4}"/>
              </a:ext>
            </a:extLst>
          </p:cNvPr>
          <p:cNvSpPr>
            <a:spLocks xmlns:a="http://schemas.openxmlformats.org/drawingml/2006/main" noGrp="1"/>
          </p:cNvSpPr>
          <p:nvPr/>
        </p:nvSpPr>
        <p:spPr>
          <a:xfrm xmlns:a="http://schemas.openxmlformats.org/drawingml/2006/main">
            <a:off x="762000" y="4238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FD689907-D04C-4D7D-AB37-B837D65FC00F}"/>
              </a:ext>
            </a:extLst>
          </p:cNvPr>
          <p:cNvSpPr>
            <a:spLocks xmlns:a="http://schemas.openxmlformats.org/drawingml/2006/main" noGrp="1"/>
          </p:cNvSpPr>
          <p:nvPr/>
        </p:nvSpPr>
        <p:spPr>
          <a:xfrm xmlns:a="http://schemas.openxmlformats.org/drawingml/2006/main">
            <a:off x="1514475" y="4238625"/>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Show the predicted sign, confidence and top 3</a:t>
            </a:r>
          </a:p>
        </p:txBody>
      </p:sp>
      <p:sp>
        <p:nvSpPr>
          <p:cNvPr id="16" name="">
            <a:extLst xmlns:a="http://schemas.openxmlformats.org/drawingml/2006/main">
              <a:ext uri="{FF2B5EF4-FFF2-40B4-BE49-F238E27FC236}">
                <a16:creationId xmlns:a16="http://schemas.microsoft.com/office/drawing/2014/main" id="{4C89A726-F98C-4D4E-B149-BEADFA230495}"/>
              </a:ext>
            </a:extLst>
          </p:cNvPr>
          <p:cNvSpPr>
            <a:spLocks xmlns:a="http://schemas.openxmlformats.org/drawingml/2006/main" noGrp="1"/>
          </p:cNvSpPr>
          <p:nvPr/>
        </p:nvSpPr>
        <p:spPr>
          <a:xfrm xmlns:a="http://schemas.openxmlformats.org/drawingml/2006/main">
            <a:off x="752475" y="491490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FDB722-C4BE-461F-87EF-A41452560579}"/>
              </a:ext>
            </a:extLst>
          </p:cNvPr>
          <p:cNvSpPr>
            <a:spLocks xmlns:a="http://schemas.openxmlformats.org/drawingml/2006/main" noGrp="1"/>
          </p:cNvSpPr>
          <p:nvPr/>
        </p:nvSpPr>
        <p:spPr>
          <a:xfrm xmlns:a="http://schemas.openxmlformats.org/drawingml/2006/main">
            <a:off x="762000" y="51054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7822C5DC-5F45-47EA-92E4-00E0601F3CB0}"/>
              </a:ext>
            </a:extLst>
          </p:cNvPr>
          <p:cNvSpPr>
            <a:spLocks xmlns:a="http://schemas.openxmlformats.org/drawingml/2006/main" noGrp="1"/>
          </p:cNvSpPr>
          <p:nvPr/>
        </p:nvSpPr>
        <p:spPr>
          <a:xfrm xmlns:a="http://schemas.openxmlformats.org/drawingml/2006/main">
            <a:off x="1514475" y="5105400"/>
            <a:ext cx="9667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31B2E"/>
                </a:solidFill>
                <a:latin typeface="Arial"/>
                <a:ea typeface="Arial"/>
                <a:cs typeface="Arial"/>
              </a:defRPr>
            </a:pPr>
            <a:r>
              <a:rPr sz="2100" b="0">
                <a:solidFill>
                  <a:srgbClr val="131B2E"/>
                </a:solidFill>
                <a:latin typeface="Arial"/>
                <a:ea typeface="Arial"/>
                <a:cs typeface="Arial"/>
              </a:rPr>
              <a:t>Explain retry guidance and the free daily limit</a:t>
            </a:r>
          </a:p>
        </p:txBody>
      </p:sp>
      <p:sp>
        <p:nvSpPr>
          <p:cNvPr id="19" name="">
            <a:extLst xmlns:a="http://schemas.openxmlformats.org/drawingml/2006/main">
              <a:ext uri="{FF2B5EF4-FFF2-40B4-BE49-F238E27FC236}">
                <a16:creationId xmlns:a16="http://schemas.microsoft.com/office/drawing/2014/main" id="{450DDD4F-654D-4F32-992C-31C67315EAAE}"/>
              </a:ext>
            </a:extLst>
          </p:cNvPr>
          <p:cNvSpPr>
            <a:spLocks xmlns:a="http://schemas.openxmlformats.org/drawingml/2006/main" noGrp="1"/>
          </p:cNvSpPr>
          <p:nvPr/>
        </p:nvSpPr>
        <p:spPr>
          <a:xfrm xmlns:a="http://schemas.openxmlformats.org/drawingml/2006/main">
            <a:off x="752475" y="5781675"/>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1096758757"/>
      </p:ext>
    </p:extLst>
  </p:cSld>
</p:sld>
</file>

<file path=ppt/slides/slide11.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A50ABD-298B-42BC-8E25-7E7240BB34C2}"/>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547AB1-259F-43B7-8B04-A35CB58DAB27}"/>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Demo 3: dictionary and upgrade path</a:t>
            </a:r>
          </a:p>
        </p:txBody>
      </p:sp>
      <p:sp>
        <p:nvSpPr>
          <p:cNvPr id="3" name="">
            <a:extLst xmlns:a="http://schemas.openxmlformats.org/drawingml/2006/main">
              <a:ext uri="{FF2B5EF4-FFF2-40B4-BE49-F238E27FC236}">
                <a16:creationId xmlns:a16="http://schemas.microsoft.com/office/drawing/2014/main" id="{DE261582-E91D-4757-8D42-1A62C9410247}"/>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CLOSE THE JOURNEY WITH ANOTHER REASON TO RETURN</a:t>
            </a:r>
          </a:p>
        </p:txBody>
      </p:sp>
      <p:sp>
        <p:nvSpPr>
          <p:cNvPr id="4" name="">
            <a:extLst xmlns:a="http://schemas.openxmlformats.org/drawingml/2006/main">
              <a:ext uri="{FF2B5EF4-FFF2-40B4-BE49-F238E27FC236}">
                <a16:creationId xmlns:a16="http://schemas.microsoft.com/office/drawing/2014/main" id="{9D4DDBB4-3533-4702-AE3C-CBB6B753972A}"/>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08CCB6-2C4F-4B92-A782-D7B96D07C369}"/>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B5FC2E59-1C21-429D-BE4F-46F802FD2DF4}"/>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F3D416EC-B741-4C72-A456-92F23E91F677}"/>
              </a:ext>
            </a:extLst>
          </p:cNvPr>
          <p:cNvSpPr>
            <a:spLocks xmlns:a="http://schemas.openxmlformats.org/drawingml/2006/main" noGrp="1"/>
          </p:cNvSpPr>
          <p:nvPr/>
        </p:nvSpPr>
        <p:spPr>
          <a:xfrm xmlns:a="http://schemas.openxmlformats.org/drawingml/2006/main">
            <a:off x="723900" y="1733550"/>
            <a:ext cx="36861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a:solidFill>
                  <a:srgbClr val="08737C"/>
                </a:solidFill>
                <a:latin typeface="Arial"/>
                <a:ea typeface="Arial"/>
                <a:cs typeface="Arial"/>
              </a:defRPr>
            </a:pPr>
            <a:r>
              <a:rPr sz="3300" b="1">
                <a:solidFill>
                  <a:srgbClr val="08737C"/>
                </a:solidFill>
                <a:latin typeface="Arial"/>
                <a:ea typeface="Arial"/>
                <a:cs typeface="Arial"/>
              </a:rPr>
              <a:t>/tu-dien</a:t>
            </a:r>
          </a:p>
        </p:txBody>
      </p:sp>
      <p:sp>
        <p:nvSpPr>
          <p:cNvPr id="8" name="">
            <a:extLst xmlns:a="http://schemas.openxmlformats.org/drawingml/2006/main">
              <a:ext uri="{FF2B5EF4-FFF2-40B4-BE49-F238E27FC236}">
                <a16:creationId xmlns:a16="http://schemas.microsoft.com/office/drawing/2014/main" id="{F14B806F-5B07-4EC8-8DB7-B10B3B5AC288}"/>
              </a:ext>
            </a:extLst>
          </p:cNvPr>
          <p:cNvSpPr>
            <a:spLocks xmlns:a="http://schemas.openxmlformats.org/drawingml/2006/main" noGrp="1"/>
          </p:cNvSpPr>
          <p:nvPr/>
        </p:nvSpPr>
        <p:spPr>
          <a:xfrm xmlns:a="http://schemas.openxmlformats.org/drawingml/2006/main">
            <a:off x="723900" y="2524125"/>
            <a:ext cx="10620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131B2E"/>
                </a:solidFill>
                <a:latin typeface="Arial"/>
                <a:ea typeface="Arial"/>
                <a:cs typeface="Arial"/>
              </a:defRPr>
            </a:pPr>
            <a:r>
              <a:rPr sz="2325" b="0">
                <a:solidFill>
                  <a:srgbClr val="131B2E"/>
                </a:solidFill>
                <a:latin typeface="Arial"/>
                <a:ea typeface="Arial"/>
                <a:cs typeface="Arial"/>
              </a:rPr>
              <a:t>Search a Vietnamese term with or without diacritics; open its sign video.</a:t>
            </a:r>
          </a:p>
        </p:txBody>
      </p:sp>
      <p:sp>
        <p:nvSpPr>
          <p:cNvPr id="9" name="">
            <a:extLst xmlns:a="http://schemas.openxmlformats.org/drawingml/2006/main">
              <a:ext uri="{FF2B5EF4-FFF2-40B4-BE49-F238E27FC236}">
                <a16:creationId xmlns:a16="http://schemas.microsoft.com/office/drawing/2014/main" id="{2E2AB86E-1C66-4051-B301-26020339D4A8}"/>
              </a:ext>
            </a:extLst>
          </p:cNvPr>
          <p:cNvSpPr>
            <a:spLocks xmlns:a="http://schemas.openxmlformats.org/drawingml/2006/main" noGrp="1"/>
          </p:cNvSpPr>
          <p:nvPr/>
        </p:nvSpPr>
        <p:spPr>
          <a:xfrm xmlns:a="http://schemas.openxmlformats.org/drawingml/2006/main">
            <a:off x="723900" y="3810000"/>
            <a:ext cx="10572750"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B107C4-145C-4FE9-8474-C70D83C31E08}"/>
              </a:ext>
            </a:extLst>
          </p:cNvPr>
          <p:cNvSpPr>
            <a:spLocks xmlns:a="http://schemas.openxmlformats.org/drawingml/2006/main" noGrp="1"/>
          </p:cNvSpPr>
          <p:nvPr/>
        </p:nvSpPr>
        <p:spPr>
          <a:xfrm xmlns:a="http://schemas.openxmlformats.org/drawingml/2006/main">
            <a:off x="723900" y="4057650"/>
            <a:ext cx="368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a:solidFill>
                  <a:srgbClr val="08737C"/>
                </a:solidFill>
                <a:latin typeface="Arial"/>
                <a:ea typeface="Arial"/>
                <a:cs typeface="Arial"/>
              </a:defRPr>
            </a:pPr>
            <a:r>
              <a:rPr sz="3300" b="1">
                <a:solidFill>
                  <a:srgbClr val="08737C"/>
                </a:solidFill>
                <a:latin typeface="Arial"/>
                <a:ea typeface="Arial"/>
                <a:cs typeface="Arial"/>
              </a:rPr>
              <a:t>/nang-cap</a:t>
            </a:r>
          </a:p>
        </p:txBody>
      </p:sp>
      <p:sp>
        <p:nvSpPr>
          <p:cNvPr id="11" name="">
            <a:extLst xmlns:a="http://schemas.openxmlformats.org/drawingml/2006/main">
              <a:ext uri="{FF2B5EF4-FFF2-40B4-BE49-F238E27FC236}">
                <a16:creationId xmlns:a16="http://schemas.microsoft.com/office/drawing/2014/main" id="{E024BB70-E934-4AAC-BD20-3EF5D960EE90}"/>
              </a:ext>
            </a:extLst>
          </p:cNvPr>
          <p:cNvSpPr>
            <a:spLocks xmlns:a="http://schemas.openxmlformats.org/drawingml/2006/main" noGrp="1"/>
          </p:cNvSpPr>
          <p:nvPr/>
        </p:nvSpPr>
        <p:spPr>
          <a:xfrm xmlns:a="http://schemas.openxmlformats.org/drawingml/2006/main">
            <a:off x="723900" y="48768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0">
                <a:solidFill>
                  <a:srgbClr val="131B2E"/>
                </a:solidFill>
                <a:latin typeface="Arial"/>
                <a:ea typeface="Arial"/>
                <a:cs typeface="Arial"/>
              </a:defRPr>
            </a:pPr>
            <a:r>
              <a:rPr sz="2250" b="0">
                <a:solidFill>
                  <a:srgbClr val="131B2E"/>
                </a:solidFill>
                <a:latin typeface="Arial"/>
                <a:ea typeface="Arial"/>
                <a:cs typeface="Arial"/>
              </a:rPr>
              <a:t>Show available plans and pricing. Stop before placing a payment order.</a:t>
            </a:r>
          </a:p>
        </p:txBody>
      </p:sp>
    </p:spTree>
    <p:extLst>
      <p:ext uri="{BB962C8B-B14F-4D97-AF65-F5344CB8AC3E}">
        <p14:creationId xmlns:p14="http://schemas.microsoft.com/office/powerpoint/2010/main" val="58793774"/>
      </p:ext>
    </p:extLst>
  </p:cSld>
</p:sld>
</file>

<file path=ppt/slides/slide12.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54441F-0150-4B1C-973B-D9571B8771D6}"/>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7B96C1-315E-4067-8042-8867283CB015}"/>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MVP readiness: live versus next to verify</a:t>
            </a:r>
          </a:p>
        </p:txBody>
      </p:sp>
      <p:sp>
        <p:nvSpPr>
          <p:cNvPr id="3" name="">
            <a:extLst xmlns:a="http://schemas.openxmlformats.org/drawingml/2006/main">
              <a:ext uri="{FF2B5EF4-FFF2-40B4-BE49-F238E27FC236}">
                <a16:creationId xmlns:a16="http://schemas.microsoft.com/office/drawing/2014/main" id="{7BD35B25-EC81-46B3-A2AF-69CE5FF51E7D}"/>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USE EVIDENCE RATHER THAN ASSUMPTIONS</a:t>
            </a:r>
          </a:p>
        </p:txBody>
      </p:sp>
      <p:sp>
        <p:nvSpPr>
          <p:cNvPr id="4" name="">
            <a:extLst xmlns:a="http://schemas.openxmlformats.org/drawingml/2006/main">
              <a:ext uri="{FF2B5EF4-FFF2-40B4-BE49-F238E27FC236}">
                <a16:creationId xmlns:a16="http://schemas.microsoft.com/office/drawing/2014/main" id="{394DA8DA-F202-422A-9AFF-BE95DBE04836}"/>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BAB2F1-FA25-4DAA-B72B-FBDBE4B84C58}"/>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5443FF04-A74B-42D0-A3BF-74E76FD8EE62}"/>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AE719589-BBF4-4E3A-8835-0BC5299D056C}"/>
              </a:ext>
            </a:extLst>
          </p:cNvPr>
          <p:cNvSpPr>
            <a:spLocks xmlns:a="http://schemas.openxmlformats.org/drawingml/2006/main" noGrp="1"/>
          </p:cNvSpPr>
          <p:nvPr/>
        </p:nvSpPr>
        <p:spPr>
          <a:xfrm xmlns:a="http://schemas.openxmlformats.org/drawingml/2006/main">
            <a:off x="733425" y="164782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0B8E68"/>
                </a:solidFill>
                <a:latin typeface="Arial"/>
                <a:ea typeface="Arial"/>
                <a:cs typeface="Arial"/>
              </a:defRPr>
            </a:pPr>
            <a:r>
              <a:rPr sz="1275" b="1">
                <a:solidFill>
                  <a:srgbClr val="0B8E68"/>
                </a:solidFill>
                <a:latin typeface="Arial"/>
                <a:ea typeface="Arial"/>
                <a:cs typeface="Arial"/>
              </a:rPr>
              <a:t>AVAILABLE NOW</a:t>
            </a:r>
          </a:p>
        </p:txBody>
      </p:sp>
      <p:sp>
        <p:nvSpPr>
          <p:cNvPr id="8" name="">
            <a:extLst xmlns:a="http://schemas.openxmlformats.org/drawingml/2006/main">
              <a:ext uri="{FF2B5EF4-FFF2-40B4-BE49-F238E27FC236}">
                <a16:creationId xmlns:a16="http://schemas.microsoft.com/office/drawing/2014/main" id="{337F05F0-8B04-4552-A1E5-F4E912A3FE21}"/>
              </a:ext>
            </a:extLst>
          </p:cNvPr>
          <p:cNvSpPr>
            <a:spLocks xmlns:a="http://schemas.openxmlformats.org/drawingml/2006/main" noGrp="1"/>
          </p:cNvSpPr>
          <p:nvPr/>
        </p:nvSpPr>
        <p:spPr>
          <a:xfrm xmlns:a="http://schemas.openxmlformats.org/drawingml/2006/main">
            <a:off x="733425" y="2066925"/>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Published landing page</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Learning and dictionary routes</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Camera AI UI and browser model</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Premium plan UI</a:t>
            </a:r>
          </a:p>
        </p:txBody>
      </p:sp>
      <p:sp>
        <p:nvSpPr>
          <p:cNvPr id="9" name="">
            <a:extLst xmlns:a="http://schemas.openxmlformats.org/drawingml/2006/main">
              <a:ext uri="{FF2B5EF4-FFF2-40B4-BE49-F238E27FC236}">
                <a16:creationId xmlns:a16="http://schemas.microsoft.com/office/drawing/2014/main" id="{C74FE33B-E15F-4D98-AD9D-F2BEE125CA25}"/>
              </a:ext>
            </a:extLst>
          </p:cNvPr>
          <p:cNvSpPr>
            <a:spLocks xmlns:a="http://schemas.openxmlformats.org/drawingml/2006/main" noGrp="1"/>
          </p:cNvSpPr>
          <p:nvPr/>
        </p:nvSpPr>
        <p:spPr>
          <a:xfrm xmlns:a="http://schemas.openxmlformats.org/drawingml/2006/main">
            <a:off x="6029325" y="1704975"/>
            <a:ext cx="19050" cy="364807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1A51A1-0E3F-4FB4-8D40-92DFB27032AE}"/>
              </a:ext>
            </a:extLst>
          </p:cNvPr>
          <p:cNvSpPr>
            <a:spLocks xmlns:a="http://schemas.openxmlformats.org/drawingml/2006/main" noGrp="1"/>
          </p:cNvSpPr>
          <p:nvPr/>
        </p:nvSpPr>
        <p:spPr>
          <a:xfrm xmlns:a="http://schemas.openxmlformats.org/drawingml/2006/main">
            <a:off x="6515100" y="164782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B45353"/>
                </a:solidFill>
                <a:latin typeface="Arial"/>
                <a:ea typeface="Arial"/>
                <a:cs typeface="Arial"/>
              </a:defRPr>
            </a:pPr>
            <a:r>
              <a:rPr sz="1275" b="1">
                <a:solidFill>
                  <a:srgbClr val="B45353"/>
                </a:solidFill>
                <a:latin typeface="Arial"/>
                <a:ea typeface="Arial"/>
                <a:cs typeface="Arial"/>
              </a:rPr>
              <a:t>BEFORE THE OUTCOME 1 DEMO</a:t>
            </a:r>
          </a:p>
        </p:txBody>
      </p:sp>
      <p:sp>
        <p:nvSpPr>
          <p:cNvPr id="11" name="">
            <a:extLst xmlns:a="http://schemas.openxmlformats.org/drawingml/2006/main">
              <a:ext uri="{FF2B5EF4-FFF2-40B4-BE49-F238E27FC236}">
                <a16:creationId xmlns:a16="http://schemas.microsoft.com/office/drawing/2014/main" id="{25F9E86B-0FF5-455A-B03D-7AFA28D65D93}"/>
              </a:ext>
            </a:extLst>
          </p:cNvPr>
          <p:cNvSpPr>
            <a:spLocks xmlns:a="http://schemas.openxmlformats.org/drawingml/2006/main" noGrp="1"/>
          </p:cNvSpPr>
          <p:nvPr/>
        </p:nvSpPr>
        <p:spPr>
          <a:xfrm xmlns:a="http://schemas.openxmlformats.org/drawingml/2006/main">
            <a:off x="6515100" y="2066925"/>
            <a:ext cx="49434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Prepare a demo account</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Confirm API and camera flow</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Validate webcam accuracy</a:t>
            </a:r>
          </a:p>
          <a:p xmlns:a="http://schemas.openxmlformats.org/drawingml/2006/main">
            <a:pPr algn="l">
              <a:defRPr sz="2175" b="0">
                <a:solidFill>
                  <a:srgbClr val="1A2535"/>
                </a:solidFill>
                <a:latin typeface="Arial"/>
                <a:ea typeface="Arial"/>
                <a:cs typeface="Arial"/>
              </a:defRPr>
            </a:pPr>
            <a:r>
              <a:rPr sz="2175" b="0">
                <a:solidFill>
                  <a:srgbClr val="1A2535"/>
                </a:solidFill>
                <a:latin typeface="Arial"/>
                <a:ea typeface="Arial"/>
                <a:cs typeface="Arial"/>
              </a:rPr>
              <a:t>Install Google Analytics 4</a:t>
            </a:r>
          </a:p>
        </p:txBody>
      </p:sp>
      <p:sp>
        <p:nvSpPr>
          <p:cNvPr id="12" name="">
            <a:extLst xmlns:a="http://schemas.openxmlformats.org/drawingml/2006/main">
              <a:ext uri="{FF2B5EF4-FFF2-40B4-BE49-F238E27FC236}">
                <a16:creationId xmlns:a16="http://schemas.microsoft.com/office/drawing/2014/main" id="{9A1DADA0-BC63-4CCB-9C2D-255614B4B735}"/>
              </a:ext>
            </a:extLst>
          </p:cNvPr>
          <p:cNvSpPr>
            <a:spLocks xmlns:a="http://schemas.openxmlformats.org/drawingml/2006/main" noGrp="1"/>
          </p:cNvSpPr>
          <p:nvPr/>
        </p:nvSpPr>
        <p:spPr>
          <a:xfrm xmlns:a="http://schemas.openxmlformats.org/drawingml/2006/main">
            <a:off x="733425" y="532447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B45353"/>
                </a:solidFill>
                <a:latin typeface="Arial"/>
                <a:ea typeface="Arial"/>
                <a:cs typeface="Arial"/>
              </a:defRPr>
            </a:pPr>
            <a:r>
              <a:rPr sz="1650" b="1">
                <a:solidFill>
                  <a:srgbClr val="B45353"/>
                </a:solidFill>
                <a:latin typeface="Arial"/>
                <a:ea typeface="Arial"/>
                <a:cs typeface="Arial"/>
              </a:rPr>
              <a:t>Current server AI files are missing model weights; accuracy is not yet established.</a:t>
            </a:r>
          </a:p>
        </p:txBody>
      </p:sp>
    </p:spTree>
    <p:extLst>
      <p:ext uri="{BB962C8B-B14F-4D97-AF65-F5344CB8AC3E}">
        <p14:creationId xmlns:p14="http://schemas.microsoft.com/office/powerpoint/2010/main" val="1891770979"/>
      </p:ext>
    </p:extLst>
  </p:cSld>
</p:sld>
</file>

<file path=ppt/slides/slide13.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7154375-9812-4F23-B0DF-CB8603E77588}"/>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6198A7-450C-4197-B139-0B1887D78D27}"/>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Seven-week development plan</a:t>
            </a:r>
          </a:p>
        </p:txBody>
      </p:sp>
      <p:sp>
        <p:nvSpPr>
          <p:cNvPr id="3" name="">
            <a:extLst xmlns:a="http://schemas.openxmlformats.org/drawingml/2006/main">
              <a:ext uri="{FF2B5EF4-FFF2-40B4-BE49-F238E27FC236}">
                <a16:creationId xmlns:a16="http://schemas.microsoft.com/office/drawing/2014/main" id="{0116DD52-FBE9-42B5-BC18-27330063F774}"/>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THREE PHASES ALIGNED TO W3, W6 AND W8</a:t>
            </a:r>
          </a:p>
        </p:txBody>
      </p:sp>
      <p:sp>
        <p:nvSpPr>
          <p:cNvPr id="4" name="">
            <a:extLst xmlns:a="http://schemas.openxmlformats.org/drawingml/2006/main">
              <a:ext uri="{FF2B5EF4-FFF2-40B4-BE49-F238E27FC236}">
                <a16:creationId xmlns:a16="http://schemas.microsoft.com/office/drawing/2014/main" id="{620F1C97-2AE0-40EE-BB53-A56692CE6564}"/>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244681-3B9A-4380-A3E5-3306A75B9432}"/>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C59DD46E-BB32-40FF-97A6-47089471A6E7}"/>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4099B6B7-A1F8-4888-B91E-88970A775D9A}"/>
              </a:ext>
            </a:extLst>
          </p:cNvPr>
          <p:cNvSpPr>
            <a:spLocks xmlns:a="http://schemas.openxmlformats.org/drawingml/2006/main" noGrp="1"/>
          </p:cNvSpPr>
          <p:nvPr/>
        </p:nvSpPr>
        <p:spPr>
          <a:xfrm xmlns:a="http://schemas.openxmlformats.org/drawingml/2006/main">
            <a:off x="762000" y="1704975"/>
            <a:ext cx="171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W2–W3</a:t>
            </a:r>
          </a:p>
        </p:txBody>
      </p:sp>
      <p:sp>
        <p:nvSpPr>
          <p:cNvPr id="8" name="">
            <a:extLst xmlns:a="http://schemas.openxmlformats.org/drawingml/2006/main">
              <a:ext uri="{FF2B5EF4-FFF2-40B4-BE49-F238E27FC236}">
                <a16:creationId xmlns:a16="http://schemas.microsoft.com/office/drawing/2014/main" id="{74EDEE33-CD43-4B00-80AE-5A62750D80F9}"/>
              </a:ext>
            </a:extLst>
          </p:cNvPr>
          <p:cNvSpPr>
            <a:spLocks xmlns:a="http://schemas.openxmlformats.org/drawingml/2006/main" noGrp="1"/>
          </p:cNvSpPr>
          <p:nvPr/>
        </p:nvSpPr>
        <p:spPr>
          <a:xfrm xmlns:a="http://schemas.openxmlformats.org/drawingml/2006/main">
            <a:off x="2457450" y="1704975"/>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Version 1.0 · Stable MVP</a:t>
            </a:r>
          </a:p>
        </p:txBody>
      </p:sp>
      <p:sp>
        <p:nvSpPr>
          <p:cNvPr id="9" name="">
            <a:extLst xmlns:a="http://schemas.openxmlformats.org/drawingml/2006/main">
              <a:ext uri="{FF2B5EF4-FFF2-40B4-BE49-F238E27FC236}">
                <a16:creationId xmlns:a16="http://schemas.microsoft.com/office/drawing/2014/main" id="{62EF3352-EC28-4AC3-B55B-EEF80EADEBFC}"/>
              </a:ext>
            </a:extLst>
          </p:cNvPr>
          <p:cNvSpPr>
            <a:spLocks xmlns:a="http://schemas.openxmlformats.org/drawingml/2006/main" noGrp="1"/>
          </p:cNvSpPr>
          <p:nvPr/>
        </p:nvSpPr>
        <p:spPr>
          <a:xfrm xmlns:a="http://schemas.openxmlformats.org/drawingml/2006/main">
            <a:off x="2466975" y="2247900"/>
            <a:ext cx="853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Demo account, camera/API smoke test, lesson content pass, GA4 page and event tracking</a:t>
            </a:r>
          </a:p>
        </p:txBody>
      </p:sp>
      <p:sp>
        <p:nvSpPr>
          <p:cNvPr id="10" name="">
            <a:extLst xmlns:a="http://schemas.openxmlformats.org/drawingml/2006/main">
              <a:ext uri="{FF2B5EF4-FFF2-40B4-BE49-F238E27FC236}">
                <a16:creationId xmlns:a16="http://schemas.microsoft.com/office/drawing/2014/main" id="{9E0A2E12-5B95-4BBE-B00F-21DAB29C6752}"/>
              </a:ext>
            </a:extLst>
          </p:cNvPr>
          <p:cNvSpPr>
            <a:spLocks xmlns:a="http://schemas.openxmlformats.org/drawingml/2006/main" noGrp="1"/>
          </p:cNvSpPr>
          <p:nvPr/>
        </p:nvSpPr>
        <p:spPr>
          <a:xfrm xmlns:a="http://schemas.openxmlformats.org/drawingml/2006/main">
            <a:off x="742950" y="30670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C5E76D-6946-47EC-9716-ED0EF81C3474}"/>
              </a:ext>
            </a:extLst>
          </p:cNvPr>
          <p:cNvSpPr>
            <a:spLocks xmlns:a="http://schemas.openxmlformats.org/drawingml/2006/main" noGrp="1"/>
          </p:cNvSpPr>
          <p:nvPr/>
        </p:nvSpPr>
        <p:spPr>
          <a:xfrm xmlns:a="http://schemas.openxmlformats.org/drawingml/2006/main">
            <a:off x="762000" y="3190875"/>
            <a:ext cx="171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W4–W6</a:t>
            </a:r>
          </a:p>
        </p:txBody>
      </p:sp>
      <p:sp>
        <p:nvSpPr>
          <p:cNvPr id="12" name="">
            <a:extLst xmlns:a="http://schemas.openxmlformats.org/drawingml/2006/main">
              <a:ext uri="{FF2B5EF4-FFF2-40B4-BE49-F238E27FC236}">
                <a16:creationId xmlns:a16="http://schemas.microsoft.com/office/drawing/2014/main" id="{B6CF3923-F092-434C-996B-198849132DB0}"/>
              </a:ext>
            </a:extLst>
          </p:cNvPr>
          <p:cNvSpPr>
            <a:spLocks xmlns:a="http://schemas.openxmlformats.org/drawingml/2006/main" noGrp="1"/>
          </p:cNvSpPr>
          <p:nvPr/>
        </p:nvSpPr>
        <p:spPr>
          <a:xfrm xmlns:a="http://schemas.openxmlformats.org/drawingml/2006/main">
            <a:off x="2457450" y="3190875"/>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Version 2.0 · Learning depth</a:t>
            </a:r>
          </a:p>
        </p:txBody>
      </p:sp>
      <p:sp>
        <p:nvSpPr>
          <p:cNvPr id="13" name="">
            <a:extLst xmlns:a="http://schemas.openxmlformats.org/drawingml/2006/main">
              <a:ext uri="{FF2B5EF4-FFF2-40B4-BE49-F238E27FC236}">
                <a16:creationId xmlns:a16="http://schemas.microsoft.com/office/drawing/2014/main" id="{3D6DBE68-8D2D-4D38-8813-81D1B0BA3631}"/>
              </a:ext>
            </a:extLst>
          </p:cNvPr>
          <p:cNvSpPr>
            <a:spLocks xmlns:a="http://schemas.openxmlformats.org/drawingml/2006/main" noGrp="1"/>
          </p:cNvSpPr>
          <p:nvPr/>
        </p:nvSpPr>
        <p:spPr>
          <a:xfrm xmlns:a="http://schemas.openxmlformats.org/drawingml/2006/main">
            <a:off x="2466975" y="3733800"/>
            <a:ext cx="853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Quizzes, stronger feedback, payment QA, real webcam evaluation across people and lighting</a:t>
            </a:r>
          </a:p>
        </p:txBody>
      </p:sp>
      <p:sp>
        <p:nvSpPr>
          <p:cNvPr id="14" name="">
            <a:extLst xmlns:a="http://schemas.openxmlformats.org/drawingml/2006/main">
              <a:ext uri="{FF2B5EF4-FFF2-40B4-BE49-F238E27FC236}">
                <a16:creationId xmlns:a16="http://schemas.microsoft.com/office/drawing/2014/main" id="{4D4F6052-5502-4FBE-93D5-967D58FE9A03}"/>
              </a:ext>
            </a:extLst>
          </p:cNvPr>
          <p:cNvSpPr>
            <a:spLocks xmlns:a="http://schemas.openxmlformats.org/drawingml/2006/main" noGrp="1"/>
          </p:cNvSpPr>
          <p:nvPr/>
        </p:nvSpPr>
        <p:spPr>
          <a:xfrm xmlns:a="http://schemas.openxmlformats.org/drawingml/2006/main">
            <a:off x="742950" y="45529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B138589-C37E-4508-82EE-AE405E000D07}"/>
              </a:ext>
            </a:extLst>
          </p:cNvPr>
          <p:cNvSpPr>
            <a:spLocks xmlns:a="http://schemas.openxmlformats.org/drawingml/2006/main" noGrp="1"/>
          </p:cNvSpPr>
          <p:nvPr/>
        </p:nvSpPr>
        <p:spPr>
          <a:xfrm xmlns:a="http://schemas.openxmlformats.org/drawingml/2006/main">
            <a:off x="762000" y="4676775"/>
            <a:ext cx="171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08737C"/>
                </a:solidFill>
                <a:latin typeface="Arial"/>
                <a:ea typeface="Arial"/>
                <a:cs typeface="Arial"/>
              </a:defRPr>
            </a:pPr>
            <a:r>
              <a:rPr sz="2325" b="1">
                <a:solidFill>
                  <a:srgbClr val="08737C"/>
                </a:solidFill>
                <a:latin typeface="Arial"/>
                <a:ea typeface="Arial"/>
                <a:cs typeface="Arial"/>
              </a:rPr>
              <a:t>W6–W8</a:t>
            </a:r>
          </a:p>
        </p:txBody>
      </p:sp>
      <p:sp>
        <p:nvSpPr>
          <p:cNvPr id="16" name="">
            <a:extLst xmlns:a="http://schemas.openxmlformats.org/drawingml/2006/main">
              <a:ext uri="{FF2B5EF4-FFF2-40B4-BE49-F238E27FC236}">
                <a16:creationId xmlns:a16="http://schemas.microsoft.com/office/drawing/2014/main" id="{4AE3D657-ADEC-4AFB-A143-67FB0950CEDE}"/>
              </a:ext>
            </a:extLst>
          </p:cNvPr>
          <p:cNvSpPr>
            <a:spLocks xmlns:a="http://schemas.openxmlformats.org/drawingml/2006/main" noGrp="1"/>
          </p:cNvSpPr>
          <p:nvPr/>
        </p:nvSpPr>
        <p:spPr>
          <a:xfrm xmlns:a="http://schemas.openxmlformats.org/drawingml/2006/main">
            <a:off x="2457450" y="4676775"/>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31B2E"/>
                </a:solidFill>
                <a:latin typeface="Arial"/>
                <a:ea typeface="Arial"/>
                <a:cs typeface="Arial"/>
              </a:defRPr>
            </a:pPr>
            <a:r>
              <a:rPr sz="2175" b="1">
                <a:solidFill>
                  <a:srgbClr val="131B2E"/>
                </a:solidFill>
                <a:latin typeface="Arial"/>
                <a:ea typeface="Arial"/>
                <a:cs typeface="Arial"/>
              </a:rPr>
              <a:t>Version 3.0 · Launch and refine</a:t>
            </a:r>
          </a:p>
        </p:txBody>
      </p:sp>
      <p:sp>
        <p:nvSpPr>
          <p:cNvPr id="17" name="">
            <a:extLst xmlns:a="http://schemas.openxmlformats.org/drawingml/2006/main">
              <a:ext uri="{FF2B5EF4-FFF2-40B4-BE49-F238E27FC236}">
                <a16:creationId xmlns:a16="http://schemas.microsoft.com/office/drawing/2014/main" id="{6828B89C-106A-4508-BFFD-1F9E0108A72C}"/>
              </a:ext>
            </a:extLst>
          </p:cNvPr>
          <p:cNvSpPr>
            <a:spLocks xmlns:a="http://schemas.openxmlformats.org/drawingml/2006/main" noGrp="1"/>
          </p:cNvSpPr>
          <p:nvPr/>
        </p:nvSpPr>
        <p:spPr>
          <a:xfrm xmlns:a="http://schemas.openxmlformats.org/drawingml/2006/main">
            <a:off x="2466975" y="5219700"/>
            <a:ext cx="853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A2535"/>
                </a:solidFill>
                <a:latin typeface="Arial"/>
                <a:ea typeface="Arial"/>
                <a:cs typeface="Arial"/>
              </a:defRPr>
            </a:pPr>
            <a:r>
              <a:rPr sz="1800" b="0">
                <a:solidFill>
                  <a:srgbClr val="1A2535"/>
                </a:solidFill>
                <a:latin typeface="Arial"/>
                <a:ea typeface="Arial"/>
                <a:cs typeface="Arial"/>
              </a:rPr>
              <a:t>Public launch in W6–W7, improve retention flows, polish content and fix measured issues</a:t>
            </a:r>
          </a:p>
        </p:txBody>
      </p:sp>
      <p:sp>
        <p:nvSpPr>
          <p:cNvPr id="18" name="">
            <a:extLst xmlns:a="http://schemas.openxmlformats.org/drawingml/2006/main">
              <a:ext uri="{FF2B5EF4-FFF2-40B4-BE49-F238E27FC236}">
                <a16:creationId xmlns:a16="http://schemas.microsoft.com/office/drawing/2014/main" id="{FE141570-3512-4B7F-8955-A80FD8067CE4}"/>
              </a:ext>
            </a:extLst>
          </p:cNvPr>
          <p:cNvSpPr>
            <a:spLocks xmlns:a="http://schemas.openxmlformats.org/drawingml/2006/main" noGrp="1"/>
          </p:cNvSpPr>
          <p:nvPr/>
        </p:nvSpPr>
        <p:spPr>
          <a:xfrm xmlns:a="http://schemas.openxmlformats.org/drawingml/2006/main">
            <a:off x="742950" y="6038850"/>
            <a:ext cx="10429875" cy="19050"/>
          </a:xfrm>
          <a:prstGeom xmlns:a="http://schemas.openxmlformats.org/drawingml/2006/main" prst="rect">
            <a:avLst/>
          </a:prstGeom>
          <a:solidFill xmlns:a="http://schemas.openxmlformats.org/drawingml/2006/main">
            <a:srgbClr val="E2EBEA"/>
          </a:solidFill>
          <a:ln xmlns:a="http://schemas.openxmlformats.org/drawingml/2006/main" w="0">
            <a:noFill/>
          </a:ln>
        </p:spPr>
      </p:sp>
    </p:spTree>
    <p:extLst>
      <p:ext uri="{BB962C8B-B14F-4D97-AF65-F5344CB8AC3E}">
        <p14:creationId xmlns:p14="http://schemas.microsoft.com/office/powerpoint/2010/main" val="585739939"/>
      </p:ext>
    </p:extLst>
  </p:cSld>
</p:sld>
</file>

<file path=ppt/slides/slide14.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C131991-C44B-4EE6-8A7D-ED592D26E044}"/>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979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76DC60-A79F-4117-9C00-803DA52466A1}"/>
              </a:ext>
            </a:extLst>
          </p:cNvPr>
          <p:cNvSpPr>
            <a:spLocks xmlns:a="http://schemas.openxmlformats.org/drawingml/2006/main" noGrp="1"/>
          </p:cNvSpPr>
          <p:nvPr/>
        </p:nvSpPr>
        <p:spPr>
          <a:xfrm xmlns:a="http://schemas.openxmlformats.org/drawingml/2006/main">
            <a:off x="647700" y="4286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75" b="1">
                <a:solidFill>
                  <a:srgbClr val="131B2E"/>
                </a:solidFill>
                <a:latin typeface="Arial"/>
                <a:ea typeface="Arial"/>
                <a:cs typeface="Arial"/>
              </a:defRPr>
            </a:pPr>
            <a:r>
              <a:rPr sz="3075" b="1">
                <a:solidFill>
                  <a:srgbClr val="131B2E"/>
                </a:solidFill>
                <a:latin typeface="Arial"/>
                <a:ea typeface="Arial"/>
                <a:cs typeface="Arial"/>
              </a:rPr>
              <a:t>Function list by version</a:t>
            </a:r>
          </a:p>
        </p:txBody>
      </p:sp>
      <p:sp>
        <p:nvSpPr>
          <p:cNvPr id="3" name="">
            <a:extLst xmlns:a="http://schemas.openxmlformats.org/drawingml/2006/main">
              <a:ext uri="{FF2B5EF4-FFF2-40B4-BE49-F238E27FC236}">
                <a16:creationId xmlns:a16="http://schemas.microsoft.com/office/drawing/2014/main" id="{D2A4FD90-762A-447A-9A8F-8B19913F24A9}"/>
              </a:ext>
            </a:extLst>
          </p:cNvPr>
          <p:cNvSpPr>
            <a:spLocks xmlns:a="http://schemas.openxmlformats.org/drawingml/2006/main" noGrp="1"/>
          </p:cNvSpPr>
          <p:nvPr/>
        </p:nvSpPr>
        <p:spPr>
          <a:xfrm xmlns:a="http://schemas.openxmlformats.org/drawingml/2006/main">
            <a:off x="666750" y="11525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08737C"/>
                </a:solidFill>
                <a:latin typeface="Arial"/>
                <a:ea typeface="Arial"/>
                <a:cs typeface="Arial"/>
              </a:defRPr>
            </a:pPr>
            <a:r>
              <a:rPr sz="1125" b="1">
                <a:solidFill>
                  <a:srgbClr val="08737C"/>
                </a:solidFill>
                <a:latin typeface="Arial"/>
                <a:ea typeface="Arial"/>
                <a:cs typeface="Arial"/>
              </a:rPr>
              <a:t>SCOPE IS PRIORITIZED BY URGENCY AND COMPLEXITY</a:t>
            </a:r>
          </a:p>
        </p:txBody>
      </p:sp>
      <p:sp>
        <p:nvSpPr>
          <p:cNvPr id="4" name="">
            <a:extLst xmlns:a="http://schemas.openxmlformats.org/drawingml/2006/main">
              <a:ext uri="{FF2B5EF4-FFF2-40B4-BE49-F238E27FC236}">
                <a16:creationId xmlns:a16="http://schemas.microsoft.com/office/drawing/2014/main" id="{0AA21307-BC2B-424A-8A79-5E14EDD5AE8F}"/>
              </a:ext>
            </a:extLst>
          </p:cNvPr>
          <p:cNvSpPr>
            <a:spLocks xmlns:a="http://schemas.openxmlformats.org/drawingml/2006/main" noGrp="1"/>
          </p:cNvSpPr>
          <p:nvPr/>
        </p:nvSpPr>
        <p:spPr>
          <a:xfrm xmlns:a="http://schemas.openxmlformats.org/drawingml/2006/main">
            <a:off x="647700" y="6248400"/>
            <a:ext cx="10896600" cy="9525"/>
          </a:xfrm>
          <a:prstGeom xmlns:a="http://schemas.openxmlformats.org/drawingml/2006/main" prst="rect">
            <a:avLst/>
          </a:prstGeom>
          <a:solidFill xmlns:a="http://schemas.openxmlformats.org/drawingml/2006/main">
            <a:srgbClr val="E2EB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EBA0B7C-701A-4977-AA2D-A5E48FECE61E}"/>
              </a:ext>
            </a:extLst>
          </p:cNvPr>
          <p:cNvSpPr>
            <a:spLocks xmlns:a="http://schemas.openxmlformats.org/drawingml/2006/main" noGrp="1"/>
          </p:cNvSpPr>
          <p:nvPr/>
        </p:nvSpPr>
        <p:spPr>
          <a:xfrm xmlns:a="http://schemas.openxmlformats.org/drawingml/2006/main">
            <a:off x="666750" y="63436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46474"/>
                </a:solidFill>
                <a:latin typeface="Arial"/>
                <a:ea typeface="Arial"/>
                <a:cs typeface="Arial"/>
              </a:defRPr>
            </a:pPr>
            <a:r>
              <a:rPr sz="1200" b="0">
                <a:solidFill>
                  <a:srgbClr val="546474"/>
                </a:solidFill>
                <a:latin typeface="Arial"/>
                <a:ea typeface="Arial"/>
                <a:cs typeface="Arial"/>
              </a:rPr>
              <a:t>SignLight  •  EXE201 Outcome 1</a:t>
            </a:r>
          </a:p>
        </p:txBody>
      </p:sp>
      <p:sp>
        <p:nvSpPr>
          <p:cNvPr id="6" name="">
            <a:extLst xmlns:a="http://schemas.openxmlformats.org/drawingml/2006/main">
              <a:ext uri="{FF2B5EF4-FFF2-40B4-BE49-F238E27FC236}">
                <a16:creationId xmlns:a16="http://schemas.microsoft.com/office/drawing/2014/main" id="{020BB301-E0A9-49A6-BB73-30004D66C821}"/>
              </a:ext>
            </a:extLst>
          </p:cNvPr>
          <p:cNvSpPr>
            <a:spLocks xmlns:a="http://schemas.openxmlformats.org/drawingml/2006/main" noGrp="1"/>
          </p:cNvSpPr>
          <p:nvPr/>
        </p:nvSpPr>
        <p:spPr>
          <a:xfrm xmlns:a="http://schemas.openxmlformats.org/drawingml/2006/main">
            <a:off x="10982325"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1">
                <a:solidFill>
                  <a:srgbClr val="546474"/>
                </a:solidFill>
                <a:latin typeface="Arial"/>
                <a:ea typeface="Arial"/>
                <a:cs typeface="Arial"/>
              </a:defRPr>
            </a:pPr>
            <a:r>
              <a:rPr sz="1200" b="1">
                <a:solidFill>
                  <a:srgbClr val="546474"/>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CFECD6DE-A8AB-4E86-9C9C-77EF73922582}"/>
              </a:ext>
            </a:extLst>
          </p:cNvPr>
          <p:cNvSpPr>
            <a:spLocks xmlns:a="http://schemas.openxmlformats.org/drawingml/2006/main" noGrp="1"/>
          </p:cNvSpPr>
          <p:nvPr/>
        </p:nvSpPr>
        <p:spPr>
          <a:xfrm xmlns:a="http://schemas.openxmlformats.org/drawingml/2006/main">
            <a:off x="723900" y="1733550"/>
            <a:ext cx="330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V1.0 · W3</a:t>
            </a:r>
          </a:p>
        </p:txBody>
      </p:sp>
      <p:sp>
        <p:nvSpPr>
          <p:cNvPr id="8" name="">
            <a:extLst xmlns:a="http://schemas.openxmlformats.org/drawingml/2006/main">
              <a:ext uri="{FF2B5EF4-FFF2-40B4-BE49-F238E27FC236}">
                <a16:creationId xmlns:a16="http://schemas.microsoft.com/office/drawing/2014/main" id="{6490DC06-FA45-42EF-9CCA-3CC53A768577}"/>
              </a:ext>
            </a:extLst>
          </p:cNvPr>
          <p:cNvSpPr>
            <a:spLocks xmlns:a="http://schemas.openxmlformats.org/drawingml/2006/main" noGrp="1"/>
          </p:cNvSpPr>
          <p:nvPr/>
        </p:nvSpPr>
        <p:spPr>
          <a:xfrm xmlns:a="http://schemas.openxmlformats.org/drawingml/2006/main">
            <a:off x="723900" y="2333625"/>
            <a:ext cx="3305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Essential to demo</a:t>
            </a:r>
          </a:p>
        </p:txBody>
      </p:sp>
      <p:sp>
        <p:nvSpPr>
          <p:cNvPr id="9" name="">
            <a:extLst xmlns:a="http://schemas.openxmlformats.org/drawingml/2006/main">
              <a:ext uri="{FF2B5EF4-FFF2-40B4-BE49-F238E27FC236}">
                <a16:creationId xmlns:a16="http://schemas.microsoft.com/office/drawing/2014/main" id="{7553056A-2C84-4A02-B1EA-8D904E2AD5DB}"/>
              </a:ext>
            </a:extLst>
          </p:cNvPr>
          <p:cNvSpPr>
            <a:spLocks xmlns:a="http://schemas.openxmlformats.org/drawingml/2006/main" noGrp="1"/>
          </p:cNvSpPr>
          <p:nvPr/>
        </p:nvSpPr>
        <p:spPr>
          <a:xfrm xmlns:a="http://schemas.openxmlformats.org/drawingml/2006/main">
            <a:off x="723900" y="298132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Login and profile</a:t>
            </a:r>
          </a:p>
        </p:txBody>
      </p:sp>
      <p:sp>
        <p:nvSpPr>
          <p:cNvPr id="10" name="">
            <a:extLst xmlns:a="http://schemas.openxmlformats.org/drawingml/2006/main">
              <a:ext uri="{FF2B5EF4-FFF2-40B4-BE49-F238E27FC236}">
                <a16:creationId xmlns:a16="http://schemas.microsoft.com/office/drawing/2014/main" id="{EFCF97CC-A9F8-43F1-9DCB-5BC68A16F9BF}"/>
              </a:ext>
            </a:extLst>
          </p:cNvPr>
          <p:cNvSpPr>
            <a:spLocks xmlns:a="http://schemas.openxmlformats.org/drawingml/2006/main" noGrp="1"/>
          </p:cNvSpPr>
          <p:nvPr/>
        </p:nvSpPr>
        <p:spPr>
          <a:xfrm xmlns:a="http://schemas.openxmlformats.org/drawingml/2006/main">
            <a:off x="723900" y="361950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Course path and lessons</a:t>
            </a:r>
          </a:p>
        </p:txBody>
      </p:sp>
      <p:sp>
        <p:nvSpPr>
          <p:cNvPr id="11" name="">
            <a:extLst xmlns:a="http://schemas.openxmlformats.org/drawingml/2006/main">
              <a:ext uri="{FF2B5EF4-FFF2-40B4-BE49-F238E27FC236}">
                <a16:creationId xmlns:a16="http://schemas.microsoft.com/office/drawing/2014/main" id="{FF01A93A-0228-415B-9EA4-273071895282}"/>
              </a:ext>
            </a:extLst>
          </p:cNvPr>
          <p:cNvSpPr>
            <a:spLocks xmlns:a="http://schemas.openxmlformats.org/drawingml/2006/main" noGrp="1"/>
          </p:cNvSpPr>
          <p:nvPr/>
        </p:nvSpPr>
        <p:spPr>
          <a:xfrm xmlns:a="http://schemas.openxmlformats.org/drawingml/2006/main">
            <a:off x="723900" y="425767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Dictionary and Camera AI</a:t>
            </a:r>
          </a:p>
        </p:txBody>
      </p:sp>
      <p:sp>
        <p:nvSpPr>
          <p:cNvPr id="12" name="">
            <a:extLst xmlns:a="http://schemas.openxmlformats.org/drawingml/2006/main">
              <a:ext uri="{FF2B5EF4-FFF2-40B4-BE49-F238E27FC236}">
                <a16:creationId xmlns:a16="http://schemas.microsoft.com/office/drawing/2014/main" id="{96DE61D8-A1A6-4EB0-8159-B2D902EC94F5}"/>
              </a:ext>
            </a:extLst>
          </p:cNvPr>
          <p:cNvSpPr>
            <a:spLocks xmlns:a="http://schemas.openxmlformats.org/drawingml/2006/main" noGrp="1"/>
          </p:cNvSpPr>
          <p:nvPr/>
        </p:nvSpPr>
        <p:spPr>
          <a:xfrm xmlns:a="http://schemas.openxmlformats.org/drawingml/2006/main">
            <a:off x="723900" y="489585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GA4 instrumentation</a:t>
            </a:r>
          </a:p>
        </p:txBody>
      </p:sp>
      <p:sp>
        <p:nvSpPr>
          <p:cNvPr id="13" name="">
            <a:extLst xmlns:a="http://schemas.openxmlformats.org/drawingml/2006/main">
              <a:ext uri="{FF2B5EF4-FFF2-40B4-BE49-F238E27FC236}">
                <a16:creationId xmlns:a16="http://schemas.microsoft.com/office/drawing/2014/main" id="{9DCF1DC9-576B-43B3-8051-6EF183176C4B}"/>
              </a:ext>
            </a:extLst>
          </p:cNvPr>
          <p:cNvSpPr>
            <a:spLocks xmlns:a="http://schemas.openxmlformats.org/drawingml/2006/main" noGrp="1"/>
          </p:cNvSpPr>
          <p:nvPr/>
        </p:nvSpPr>
        <p:spPr>
          <a:xfrm xmlns:a="http://schemas.openxmlformats.org/drawingml/2006/main">
            <a:off x="4476750" y="1733550"/>
            <a:ext cx="330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V2.0 · W6</a:t>
            </a:r>
          </a:p>
        </p:txBody>
      </p:sp>
      <p:sp>
        <p:nvSpPr>
          <p:cNvPr id="14" name="">
            <a:extLst xmlns:a="http://schemas.openxmlformats.org/drawingml/2006/main">
              <a:ext uri="{FF2B5EF4-FFF2-40B4-BE49-F238E27FC236}">
                <a16:creationId xmlns:a16="http://schemas.microsoft.com/office/drawing/2014/main" id="{DED019B9-B79D-4F67-87BC-48D6AED0BEA3}"/>
              </a:ext>
            </a:extLst>
          </p:cNvPr>
          <p:cNvSpPr>
            <a:spLocks xmlns:a="http://schemas.openxmlformats.org/drawingml/2006/main" noGrp="1"/>
          </p:cNvSpPr>
          <p:nvPr/>
        </p:nvSpPr>
        <p:spPr>
          <a:xfrm xmlns:a="http://schemas.openxmlformats.org/drawingml/2006/main">
            <a:off x="4476750" y="2333625"/>
            <a:ext cx="3305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Learning and validation</a:t>
            </a:r>
          </a:p>
        </p:txBody>
      </p:sp>
      <p:sp>
        <p:nvSpPr>
          <p:cNvPr id="15" name="">
            <a:extLst xmlns:a="http://schemas.openxmlformats.org/drawingml/2006/main">
              <a:ext uri="{FF2B5EF4-FFF2-40B4-BE49-F238E27FC236}">
                <a16:creationId xmlns:a16="http://schemas.microsoft.com/office/drawing/2014/main" id="{1C0CEF0C-4E2A-484A-9D36-5CEB7C9362C6}"/>
              </a:ext>
            </a:extLst>
          </p:cNvPr>
          <p:cNvSpPr>
            <a:spLocks xmlns:a="http://schemas.openxmlformats.org/drawingml/2006/main" noGrp="1"/>
          </p:cNvSpPr>
          <p:nvPr/>
        </p:nvSpPr>
        <p:spPr>
          <a:xfrm xmlns:a="http://schemas.openxmlformats.org/drawingml/2006/main">
            <a:off x="4476750" y="298132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Quiz and review flow</a:t>
            </a:r>
          </a:p>
        </p:txBody>
      </p:sp>
      <p:sp>
        <p:nvSpPr>
          <p:cNvPr id="16" name="">
            <a:extLst xmlns:a="http://schemas.openxmlformats.org/drawingml/2006/main">
              <a:ext uri="{FF2B5EF4-FFF2-40B4-BE49-F238E27FC236}">
                <a16:creationId xmlns:a16="http://schemas.microsoft.com/office/drawing/2014/main" id="{7F115BB0-F36D-42D7-98D6-A345FCBC1291}"/>
              </a:ext>
            </a:extLst>
          </p:cNvPr>
          <p:cNvSpPr>
            <a:spLocks xmlns:a="http://schemas.openxmlformats.org/drawingml/2006/main" noGrp="1"/>
          </p:cNvSpPr>
          <p:nvPr/>
        </p:nvSpPr>
        <p:spPr>
          <a:xfrm xmlns:a="http://schemas.openxmlformats.org/drawingml/2006/main">
            <a:off x="4476750" y="361950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Better AI guidance</a:t>
            </a:r>
          </a:p>
        </p:txBody>
      </p:sp>
      <p:sp>
        <p:nvSpPr>
          <p:cNvPr id="17" name="">
            <a:extLst xmlns:a="http://schemas.openxmlformats.org/drawingml/2006/main">
              <a:ext uri="{FF2B5EF4-FFF2-40B4-BE49-F238E27FC236}">
                <a16:creationId xmlns:a16="http://schemas.microsoft.com/office/drawing/2014/main" id="{57F66A64-05F3-43E7-9BF2-3CAEA7AF04B3}"/>
              </a:ext>
            </a:extLst>
          </p:cNvPr>
          <p:cNvSpPr>
            <a:spLocks xmlns:a="http://schemas.openxmlformats.org/drawingml/2006/main" noGrp="1"/>
          </p:cNvSpPr>
          <p:nvPr/>
        </p:nvSpPr>
        <p:spPr>
          <a:xfrm xmlns:a="http://schemas.openxmlformats.org/drawingml/2006/main">
            <a:off x="4476750" y="425767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PayOS checkout validation</a:t>
            </a:r>
          </a:p>
        </p:txBody>
      </p:sp>
      <p:sp>
        <p:nvSpPr>
          <p:cNvPr id="18" name="">
            <a:extLst xmlns:a="http://schemas.openxmlformats.org/drawingml/2006/main">
              <a:ext uri="{FF2B5EF4-FFF2-40B4-BE49-F238E27FC236}">
                <a16:creationId xmlns:a16="http://schemas.microsoft.com/office/drawing/2014/main" id="{31D1DE78-B94F-4237-9D84-F1AF522E1250}"/>
              </a:ext>
            </a:extLst>
          </p:cNvPr>
          <p:cNvSpPr>
            <a:spLocks xmlns:a="http://schemas.openxmlformats.org/drawingml/2006/main" noGrp="1"/>
          </p:cNvSpPr>
          <p:nvPr/>
        </p:nvSpPr>
        <p:spPr>
          <a:xfrm xmlns:a="http://schemas.openxmlformats.org/drawingml/2006/main">
            <a:off x="4476750" y="489585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Webcam accuracy tests</a:t>
            </a:r>
          </a:p>
        </p:txBody>
      </p:sp>
      <p:sp>
        <p:nvSpPr>
          <p:cNvPr id="19" name="">
            <a:extLst xmlns:a="http://schemas.openxmlformats.org/drawingml/2006/main">
              <a:ext uri="{FF2B5EF4-FFF2-40B4-BE49-F238E27FC236}">
                <a16:creationId xmlns:a16="http://schemas.microsoft.com/office/drawing/2014/main" id="{B4B7A15E-7FB1-4655-8811-74A4EBE21EFA}"/>
              </a:ext>
            </a:extLst>
          </p:cNvPr>
          <p:cNvSpPr>
            <a:spLocks xmlns:a="http://schemas.openxmlformats.org/drawingml/2006/main" noGrp="1"/>
          </p:cNvSpPr>
          <p:nvPr/>
        </p:nvSpPr>
        <p:spPr>
          <a:xfrm xmlns:a="http://schemas.openxmlformats.org/drawingml/2006/main">
            <a:off x="8210550" y="1733550"/>
            <a:ext cx="330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8737C"/>
                </a:solidFill>
                <a:latin typeface="Arial"/>
                <a:ea typeface="Arial"/>
                <a:cs typeface="Arial"/>
              </a:defRPr>
            </a:pPr>
            <a:r>
              <a:rPr sz="2250" b="1">
                <a:solidFill>
                  <a:srgbClr val="08737C"/>
                </a:solidFill>
                <a:latin typeface="Arial"/>
                <a:ea typeface="Arial"/>
                <a:cs typeface="Arial"/>
              </a:rPr>
              <a:t>V3.0 · W8</a:t>
            </a:r>
          </a:p>
        </p:txBody>
      </p:sp>
      <p:sp>
        <p:nvSpPr>
          <p:cNvPr id="20" name="">
            <a:extLst xmlns:a="http://schemas.openxmlformats.org/drawingml/2006/main">
              <a:ext uri="{FF2B5EF4-FFF2-40B4-BE49-F238E27FC236}">
                <a16:creationId xmlns:a16="http://schemas.microsoft.com/office/drawing/2014/main" id="{A119C835-F081-4972-96E5-D0D12DC8D092}"/>
              </a:ext>
            </a:extLst>
          </p:cNvPr>
          <p:cNvSpPr>
            <a:spLocks xmlns:a="http://schemas.openxmlformats.org/drawingml/2006/main" noGrp="1"/>
          </p:cNvSpPr>
          <p:nvPr/>
        </p:nvSpPr>
        <p:spPr>
          <a:xfrm xmlns:a="http://schemas.openxmlformats.org/drawingml/2006/main">
            <a:off x="8210550" y="2333625"/>
            <a:ext cx="3305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474"/>
                </a:solidFill>
                <a:latin typeface="Arial"/>
                <a:ea typeface="Arial"/>
                <a:cs typeface="Arial"/>
              </a:defRPr>
            </a:pPr>
            <a:r>
              <a:rPr sz="1575" b="0">
                <a:solidFill>
                  <a:srgbClr val="546474"/>
                </a:solidFill>
                <a:latin typeface="Arial"/>
                <a:ea typeface="Arial"/>
                <a:cs typeface="Arial"/>
              </a:rPr>
              <a:t>Release quality</a:t>
            </a:r>
          </a:p>
        </p:txBody>
      </p:sp>
      <p:sp>
        <p:nvSpPr>
          <p:cNvPr id="21" name="">
            <a:extLst xmlns:a="http://schemas.openxmlformats.org/drawingml/2006/main">
              <a:ext uri="{FF2B5EF4-FFF2-40B4-BE49-F238E27FC236}">
                <a16:creationId xmlns:a16="http://schemas.microsoft.com/office/drawing/2014/main" id="{10FC86AE-493B-448A-9AB9-8A43400AE45E}"/>
              </a:ext>
            </a:extLst>
          </p:cNvPr>
          <p:cNvSpPr>
            <a:spLocks xmlns:a="http://schemas.openxmlformats.org/drawingml/2006/main" noGrp="1"/>
          </p:cNvSpPr>
          <p:nvPr/>
        </p:nvSpPr>
        <p:spPr>
          <a:xfrm xmlns:a="http://schemas.openxmlformats.org/drawingml/2006/main">
            <a:off x="8210550" y="298132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Content quality review</a:t>
            </a:r>
          </a:p>
        </p:txBody>
      </p:sp>
      <p:sp>
        <p:nvSpPr>
          <p:cNvPr id="22" name="">
            <a:extLst xmlns:a="http://schemas.openxmlformats.org/drawingml/2006/main">
              <a:ext uri="{FF2B5EF4-FFF2-40B4-BE49-F238E27FC236}">
                <a16:creationId xmlns:a16="http://schemas.microsoft.com/office/drawing/2014/main" id="{DA4251BF-A549-4F49-8C21-639B5D054D59}"/>
              </a:ext>
            </a:extLst>
          </p:cNvPr>
          <p:cNvSpPr>
            <a:spLocks xmlns:a="http://schemas.openxmlformats.org/drawingml/2006/main" noGrp="1"/>
          </p:cNvSpPr>
          <p:nvPr/>
        </p:nvSpPr>
        <p:spPr>
          <a:xfrm xmlns:a="http://schemas.openxmlformats.org/drawingml/2006/main">
            <a:off x="8210550" y="361950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Accessibility and privacy QA</a:t>
            </a:r>
          </a:p>
        </p:txBody>
      </p:sp>
      <p:sp>
        <p:nvSpPr>
          <p:cNvPr id="23" name="">
            <a:extLst xmlns:a="http://schemas.openxmlformats.org/drawingml/2006/main">
              <a:ext uri="{FF2B5EF4-FFF2-40B4-BE49-F238E27FC236}">
                <a16:creationId xmlns:a16="http://schemas.microsoft.com/office/drawing/2014/main" id="{A6C5ADCA-BD05-44AC-BD71-3D3807C3F915}"/>
              </a:ext>
            </a:extLst>
          </p:cNvPr>
          <p:cNvSpPr>
            <a:spLocks xmlns:a="http://schemas.openxmlformats.org/drawingml/2006/main" noGrp="1"/>
          </p:cNvSpPr>
          <p:nvPr/>
        </p:nvSpPr>
        <p:spPr>
          <a:xfrm xmlns:a="http://schemas.openxmlformats.org/drawingml/2006/main">
            <a:off x="8210550" y="4257675"/>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Stability and performance</a:t>
            </a:r>
          </a:p>
        </p:txBody>
      </p:sp>
      <p:sp>
        <p:nvSpPr>
          <p:cNvPr id="24" name="">
            <a:extLst xmlns:a="http://schemas.openxmlformats.org/drawingml/2006/main">
              <a:ext uri="{FF2B5EF4-FFF2-40B4-BE49-F238E27FC236}">
                <a16:creationId xmlns:a16="http://schemas.microsoft.com/office/drawing/2014/main" id="{E53EF63B-6ABD-4B69-B7D0-96725933A710}"/>
              </a:ext>
            </a:extLst>
          </p:cNvPr>
          <p:cNvSpPr>
            <a:spLocks xmlns:a="http://schemas.openxmlformats.org/drawingml/2006/main" noGrp="1"/>
          </p:cNvSpPr>
          <p:nvPr/>
        </p:nvSpPr>
        <p:spPr>
          <a:xfrm xmlns:a="http://schemas.openxmlformats.org/drawingml/2006/main">
            <a:off x="8210550" y="4895850"/>
            <a:ext cx="3267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31B2E"/>
                </a:solidFill>
                <a:latin typeface="Arial"/>
                <a:ea typeface="Arial"/>
                <a:cs typeface="Arial"/>
              </a:defRPr>
            </a:pPr>
            <a:r>
              <a:rPr sz="1800" b="0">
                <a:solidFill>
                  <a:srgbClr val="131B2E"/>
                </a:solidFill>
                <a:latin typeface="Arial"/>
                <a:ea typeface="Arial"/>
                <a:cs typeface="Arial"/>
              </a:rPr>
              <a:t>• Release checklist</a:t>
            </a:r>
          </a:p>
        </p:txBody>
      </p:sp>
    </p:spTree>
    <p:extLst>
      <p:ext uri="{BB962C8B-B14F-4D97-AF65-F5344CB8AC3E}">
        <p14:creationId xmlns:p14="http://schemas.microsoft.com/office/powerpoint/2010/main" val="1577166103"/>
      </p:ext>
    </p:extLst>
  </p:cSld>
</p:sld>
</file>

<file path=ppt/slides/slide15.xml><?xml version="1.0" encoding="utf-8"?>
<p:sld xmlns:p="http://schemas.openxmlformats.org/presentationml/2006/main">
  <p:cSld>
    <p:bg>
      <p:bgPr>
        <a:solidFill xmlns:a="http://schemas.openxmlformats.org/drawingml/2006/main">
          <a:srgbClr val="131B2E"/>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ddbf89fe83641fb"/>
          <a:stretch xmlns:a="http://schemas.openxmlformats.org/drawingml/2006/main"/>
        </p:blipFill>
        <p:spPr>
          <a:xfrm xmlns:a="http://schemas.openxmlformats.org/drawingml/2006/main">
            <a:off x="787827" y="752475"/>
            <a:ext cx="815120" cy="8477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FEA5A9-A4CD-4ECA-A35E-1F27388D4E92}"/>
              </a:ext>
            </a:extLst>
          </p:cNvPr>
          <p:cNvSpPr>
            <a:spLocks xmlns:a="http://schemas.openxmlformats.org/drawingml/2006/main" noGrp="1"/>
          </p:cNvSpPr>
          <p:nvPr/>
        </p:nvSpPr>
        <p:spPr>
          <a:xfrm xmlns:a="http://schemas.openxmlformats.org/drawingml/2006/main">
            <a:off x="752475" y="1962150"/>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SignLight</a:t>
            </a:r>
          </a:p>
        </p:txBody>
      </p:sp>
      <p:sp>
        <p:nvSpPr>
          <p:cNvPr id="3" name="">
            <a:extLst xmlns:a="http://schemas.openxmlformats.org/drawingml/2006/main">
              <a:ext uri="{FF2B5EF4-FFF2-40B4-BE49-F238E27FC236}">
                <a16:creationId xmlns:a16="http://schemas.microsoft.com/office/drawing/2014/main" id="{F5D08EB3-274F-4BC4-B3D0-B87597D58CF0}"/>
              </a:ext>
            </a:extLst>
          </p:cNvPr>
          <p:cNvSpPr>
            <a:spLocks xmlns:a="http://schemas.openxmlformats.org/drawingml/2006/main" noGrp="1"/>
          </p:cNvSpPr>
          <p:nvPr/>
        </p:nvSpPr>
        <p:spPr>
          <a:xfrm xmlns:a="http://schemas.openxmlformats.org/drawingml/2006/main">
            <a:off x="771525" y="2943225"/>
            <a:ext cx="94869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From watching signs to practicing them with feedback.</a:t>
            </a:r>
          </a:p>
        </p:txBody>
      </p:sp>
      <p:sp>
        <p:nvSpPr>
          <p:cNvPr id="4" name="">
            <a:extLst xmlns:a="http://schemas.openxmlformats.org/drawingml/2006/main">
              <a:ext uri="{FF2B5EF4-FFF2-40B4-BE49-F238E27FC236}">
                <a16:creationId xmlns:a16="http://schemas.microsoft.com/office/drawing/2014/main" id="{ED84B5C7-A251-4C0E-B385-E364B2783DBD}"/>
              </a:ext>
            </a:extLst>
          </p:cNvPr>
          <p:cNvSpPr>
            <a:spLocks xmlns:a="http://schemas.openxmlformats.org/drawingml/2006/main" noGrp="1"/>
          </p:cNvSpPr>
          <p:nvPr/>
        </p:nvSpPr>
        <p:spPr>
          <a:xfrm xmlns:a="http://schemas.openxmlformats.org/drawingml/2006/main">
            <a:off x="781050" y="4914900"/>
            <a:ext cx="752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BCE5E3"/>
                </a:solidFill>
                <a:latin typeface="Arial"/>
                <a:ea typeface="Arial"/>
                <a:cs typeface="Arial"/>
              </a:defRPr>
            </a:pPr>
            <a:r>
              <a:rPr sz="2025" b="0">
                <a:solidFill>
                  <a:srgbClr val="BCE5E3"/>
                </a:solidFill>
                <a:latin typeface="Arial"/>
                <a:ea typeface="Arial"/>
                <a:cs typeface="Arial"/>
              </a:rPr>
              <a:t>Live MVP  •  sightlight1.vercel.app</a:t>
            </a:r>
          </a:p>
        </p:txBody>
      </p:sp>
      <p:sp>
        <p:nvSpPr>
          <p:cNvPr id="5" name="">
            <a:extLst xmlns:a="http://schemas.openxmlformats.org/drawingml/2006/main">
              <a:ext uri="{FF2B5EF4-FFF2-40B4-BE49-F238E27FC236}">
                <a16:creationId xmlns:a16="http://schemas.microsoft.com/office/drawing/2014/main" id="{AAEF43AE-A7AA-4F4B-8E35-9BEE6FDC2279}"/>
              </a:ext>
            </a:extLst>
          </p:cNvPr>
          <p:cNvSpPr>
            <a:spLocks xmlns:a="http://schemas.openxmlformats.org/drawingml/2006/main" noGrp="1"/>
          </p:cNvSpPr>
          <p:nvPr/>
        </p:nvSpPr>
        <p:spPr>
          <a:xfrm xmlns:a="http://schemas.openxmlformats.org/drawingml/2006/main">
            <a:off x="771525" y="5676900"/>
            <a:ext cx="381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Questions?</a:t>
            </a:r>
          </a:p>
        </p:txBody>
      </p:sp>
    </p:spTree>
    <p:extLst>
      <p:ext uri="{BB962C8B-B14F-4D97-AF65-F5344CB8AC3E}">
        <p14:creationId xmlns:p14="http://schemas.microsoft.com/office/powerpoint/2010/main" val="423992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2026-09-23T14:28:50.0300000Z</dcterms:created>
  <dcterms:modified xsi:type="dcterms:W3CDTF">2026-09-23T14:28:50.0300000Z</dcterms:modified>
</coreProperties>
</file>